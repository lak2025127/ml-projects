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4" r:id="rId3"/>
    <p:sldId id="275" r:id="rId4"/>
    <p:sldId id="276" r:id="rId5"/>
    <p:sldId id="277" r:id="rId6"/>
    <p:sldId id="278" r:id="rId7"/>
    <p:sldId id="279" r:id="rId8"/>
    <p:sldId id="280" r:id="rId9"/>
    <p:sldId id="28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696" y="66"/>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DED9-62EE-4166-A656-4F972E766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BE7FD4-4C81-4542-92F5-FD7C6EC88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D16D01-F0F3-4E09-B336-2989C5860308}"/>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3D4227CF-921C-4C67-9E8E-7B0A5B113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A8955-74D4-430E-8C0F-2E563A57618C}"/>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314368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0D48-9F60-4126-B774-FE5F6A07CC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0EE960-3032-47D1-80C1-A032A4336E6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8AD78-89CB-474D-8CAC-5B7CD6F0742F}"/>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A1985AED-080F-4F3F-84C4-E3A1AC2FA8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620268-E263-423A-B026-E846FE7AEED6}"/>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29738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2973-A799-4ED3-91DF-B933F148AD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615A1F-1421-4A37-98AA-7BBB8CFAF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FBF5B2-1F72-4F61-970B-50DE33A1B9E3}"/>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CF538AEF-C4A0-44F9-9249-D8676DA722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ABE63-14B5-4A5A-8393-EBA96968803C}"/>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59761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335F-AA08-4A7C-9132-0B256703D4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5C2D66-21C5-49B4-9D9D-A0A6E9B4F6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58A9F1-53AD-4149-B979-66CFDCC9BB2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A74207-5184-43B8-9A50-6DF2B5497F85}"/>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6" name="Footer Placeholder 5">
            <a:extLst>
              <a:ext uri="{FF2B5EF4-FFF2-40B4-BE49-F238E27FC236}">
                <a16:creationId xmlns:a16="http://schemas.microsoft.com/office/drawing/2014/main" id="{45F67A85-5557-45E6-9E1D-5C219E20B7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92868C-7E1B-4C6D-A8D6-93B7356BB408}"/>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3785041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D77C7-0ED1-49F4-83D3-8CFE356D41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B5EA89-9073-4D5B-B3E6-C7DB277FB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DA5AC72-58F6-49F7-A586-F05669DECA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87C707-4845-41E6-B40D-D8B79735A4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6410713-D598-4CA9-BF22-A0A590C2A2D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2C3177-67AC-4BF1-BDC6-FB6158489E86}"/>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8" name="Footer Placeholder 7">
            <a:extLst>
              <a:ext uri="{FF2B5EF4-FFF2-40B4-BE49-F238E27FC236}">
                <a16:creationId xmlns:a16="http://schemas.microsoft.com/office/drawing/2014/main" id="{F09FFCDC-56AC-4EEA-BD21-3119AE0744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38496E-2441-4979-837B-9EDC434BE6FA}"/>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6930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0392-9D0F-4E19-A109-33934F0E62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0E54B1-7733-4F84-913E-EEA5B7743B97}"/>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4" name="Footer Placeholder 3">
            <a:extLst>
              <a:ext uri="{FF2B5EF4-FFF2-40B4-BE49-F238E27FC236}">
                <a16:creationId xmlns:a16="http://schemas.microsoft.com/office/drawing/2014/main" id="{1944AF7B-AAE3-40FC-9401-C3C7661A9B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71E13A-AAA2-4626-B0E2-85471F8A82FE}"/>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2939828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63193-1F73-45A1-97D2-EAA773FE924F}"/>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3" name="Footer Placeholder 2">
            <a:extLst>
              <a:ext uri="{FF2B5EF4-FFF2-40B4-BE49-F238E27FC236}">
                <a16:creationId xmlns:a16="http://schemas.microsoft.com/office/drawing/2014/main" id="{80C4AE35-1E1F-4496-9A45-E81B4D8255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DAA9CE-5FBB-4C9D-ADCE-FD5F8F072579}"/>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2065152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9349-5C43-4F1C-8C23-5D9CC22190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24183E-7144-4DF7-928C-A46DF50DB6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EAF3A1-0FB8-401E-9631-9F0650136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A24147-33CE-4284-8AD5-47A30ACCB7B7}"/>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6" name="Footer Placeholder 5">
            <a:extLst>
              <a:ext uri="{FF2B5EF4-FFF2-40B4-BE49-F238E27FC236}">
                <a16:creationId xmlns:a16="http://schemas.microsoft.com/office/drawing/2014/main" id="{C36C1C7B-7501-498F-AEB0-17324727EC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DA8E1F-385E-4161-B808-789FCD95FCAB}"/>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112569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8A0F-FCE3-47D9-9F86-5BF6319E5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DE07EE-41B3-48A4-AC20-A895E6D4EB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0FA89A-891A-48C3-BD59-519B5EEE9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A75849F-DE1B-4D34-BAD7-A9A05103B39D}"/>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6" name="Footer Placeholder 5">
            <a:extLst>
              <a:ext uri="{FF2B5EF4-FFF2-40B4-BE49-F238E27FC236}">
                <a16:creationId xmlns:a16="http://schemas.microsoft.com/office/drawing/2014/main" id="{0DAE85F9-38D5-42DD-892F-6B2716001C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DE7B02-7278-4E4E-91C5-9DC92CC1C8FC}"/>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3805764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ABD8A-610A-4FEB-BFE0-ADE896CB9E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811C3D-8EB9-4F24-A268-06258B35E2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A9A37-359E-4298-B5D8-CDDA98814EFC}"/>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44030F95-CA4E-4F34-8B53-8CACCB980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CD64E-A33F-484B-9327-4AADCD374F0A}"/>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1019294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BFCD5-0C8C-4452-911A-4D642570FA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6B7DF3-2359-4BE8-A8EB-982504EE87E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8C4E23-6959-4D16-9188-B24C694879D5}"/>
              </a:ext>
            </a:extLst>
          </p:cNvPr>
          <p:cNvSpPr>
            <a:spLocks noGrp="1"/>
          </p:cNvSpPr>
          <p:nvPr>
            <p:ph type="dt" sz="half" idx="10"/>
          </p:nvPr>
        </p:nvSpPr>
        <p:spPr/>
        <p:txBody>
          <a:body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2C78AB67-7FE7-47D9-A85B-7CC74C1BD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EC557-3809-4CF3-AD45-DA34457D955A}"/>
              </a:ext>
            </a:extLst>
          </p:cNvPr>
          <p:cNvSpPr>
            <a:spLocks noGrp="1"/>
          </p:cNvSpPr>
          <p:nvPr>
            <p:ph type="sldNum" sz="quarter" idx="12"/>
          </p:nvPr>
        </p:nvSpPr>
        <p:spPr/>
        <p:txBody>
          <a:bodyPr/>
          <a:lstStyle/>
          <a:p>
            <a:fld id="{82C42D94-8CC5-4CB6-B58B-E406AD939E12}" type="slidenum">
              <a:rPr lang="en-US" smtClean="0"/>
              <a:t>‹#›</a:t>
            </a:fld>
            <a:endParaRPr lang="en-US"/>
          </a:p>
        </p:txBody>
      </p:sp>
    </p:spTree>
    <p:extLst>
      <p:ext uri="{BB962C8B-B14F-4D97-AF65-F5344CB8AC3E}">
        <p14:creationId xmlns:p14="http://schemas.microsoft.com/office/powerpoint/2010/main" val="74033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2F8E78-4004-4F76-9638-104830F684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D5F8DF-E1B6-4AE2-90E9-DB994B2A24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B91FC3-FF3B-43B3-9674-9652589B40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E66AE-2393-4C7A-97CD-27EB0A846CD7}" type="datetimeFigureOut">
              <a:rPr lang="en-US" smtClean="0"/>
              <a:t>8/18/2025</a:t>
            </a:fld>
            <a:endParaRPr lang="en-US"/>
          </a:p>
        </p:txBody>
      </p:sp>
      <p:sp>
        <p:nvSpPr>
          <p:cNvPr id="5" name="Footer Placeholder 4">
            <a:extLst>
              <a:ext uri="{FF2B5EF4-FFF2-40B4-BE49-F238E27FC236}">
                <a16:creationId xmlns:a16="http://schemas.microsoft.com/office/drawing/2014/main" id="{8B59726A-E798-4DC2-AB8A-EA40453713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CE9DB2-0188-44AD-90B6-F9CAFDB629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C42D94-8CC5-4CB6-B58B-E406AD939E12}" type="slidenum">
              <a:rPr lang="en-US" smtClean="0"/>
              <a:t>‹#›</a:t>
            </a:fld>
            <a:endParaRPr lang="en-US"/>
          </a:p>
        </p:txBody>
      </p:sp>
    </p:spTree>
    <p:extLst>
      <p:ext uri="{BB962C8B-B14F-4D97-AF65-F5344CB8AC3E}">
        <p14:creationId xmlns:p14="http://schemas.microsoft.com/office/powerpoint/2010/main" val="455696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1ACF31-898A-4C16-A3B8-BC4C918F46A6}"/>
              </a:ext>
            </a:extLst>
          </p:cNvPr>
          <p:cNvGrpSpPr/>
          <p:nvPr/>
        </p:nvGrpSpPr>
        <p:grpSpPr>
          <a:xfrm>
            <a:off x="947869" y="12686"/>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952641"/>
            </a:xfrm>
            <a:prstGeom prst="rect">
              <a:avLst/>
            </a:prstGeom>
            <a:noFill/>
          </p:spPr>
          <p:txBody>
            <a:bodyPr wrap="square" rtlCol="0">
              <a:spAutoFit/>
            </a:bodyPr>
            <a:lstStyle/>
            <a:p>
              <a:pPr algn="ctr"/>
              <a:r>
                <a:rPr lang="en-US" sz="2800"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808491" y="25372"/>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952641"/>
            </a:xfrm>
            <a:prstGeom prst="rect">
              <a:avLst/>
            </a:prstGeom>
            <a:grpFill/>
          </p:spPr>
          <p:txBody>
            <a:bodyPr wrap="square" rtlCol="0">
              <a:spAutoFit/>
            </a:bodyPr>
            <a:lstStyle/>
            <a:p>
              <a:pPr algn="ctr"/>
              <a:r>
                <a:rPr lang="en-US" sz="2800"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599565" y="12686"/>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2" y="2602523"/>
              <a:ext cx="2842848" cy="954107"/>
            </a:xfrm>
            <a:prstGeom prst="rect">
              <a:avLst/>
            </a:prstGeom>
            <a:noFill/>
          </p:spPr>
          <p:txBody>
            <a:bodyPr wrap="square" rtlCol="0">
              <a:spAutoFit/>
            </a:bodyPr>
            <a:lstStyle/>
            <a:p>
              <a:pPr algn="ctr"/>
              <a:r>
                <a:rPr lang="en-US" sz="2800"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493059" y="0"/>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523220"/>
            </a:xfrm>
            <a:prstGeom prst="rect">
              <a:avLst/>
            </a:prstGeom>
            <a:noFill/>
          </p:spPr>
          <p:txBody>
            <a:bodyPr wrap="square" rtlCol="0">
              <a:spAutoFit/>
            </a:bodyPr>
            <a:lstStyle/>
            <a:p>
              <a:pPr algn="ctr"/>
              <a:r>
                <a:rPr lang="en-US" sz="2800"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192023" y="0"/>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3" y="95816"/>
              <a:ext cx="2879451" cy="2433269"/>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4259" cy="954107"/>
            </a:xfrm>
            <a:prstGeom prst="rect">
              <a:avLst/>
            </a:prstGeom>
            <a:grpFill/>
          </p:spPr>
          <p:txBody>
            <a:bodyPr wrap="square" rtlCol="0">
              <a:spAutoFit/>
            </a:bodyPr>
            <a:lstStyle/>
            <a:p>
              <a:pPr algn="ctr"/>
              <a:r>
                <a:rPr lang="en-US" sz="2800" dirty="0">
                  <a:latin typeface="Trebuchet MS" panose="020B0603020202020204" pitchFamily="34" charset="0"/>
                </a:rPr>
                <a:t>CONCLUSIONS</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0" y="16084"/>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7" name="Picture 36">
            <a:extLst>
              <a:ext uri="{FF2B5EF4-FFF2-40B4-BE49-F238E27FC236}">
                <a16:creationId xmlns:a16="http://schemas.microsoft.com/office/drawing/2014/main" id="{75EE92BD-6407-4D12-87CF-FDF4B8EFD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0" y="-7605"/>
            <a:ext cx="6164131" cy="6858000"/>
          </a:xfrm>
          <a:prstGeom prst="rect">
            <a:avLst/>
          </a:prstGeom>
        </p:spPr>
      </p:pic>
      <p:sp>
        <p:nvSpPr>
          <p:cNvPr id="38" name="TextBox 37">
            <a:extLst>
              <a:ext uri="{FF2B5EF4-FFF2-40B4-BE49-F238E27FC236}">
                <a16:creationId xmlns:a16="http://schemas.microsoft.com/office/drawing/2014/main" id="{368AD6DF-DEA7-40A1-9FC3-68B99646570B}"/>
              </a:ext>
            </a:extLst>
          </p:cNvPr>
          <p:cNvSpPr txBox="1"/>
          <p:nvPr/>
        </p:nvSpPr>
        <p:spPr>
          <a:xfrm>
            <a:off x="5655581" y="728293"/>
            <a:ext cx="5118395" cy="861774"/>
          </a:xfrm>
          <a:prstGeom prst="rect">
            <a:avLst/>
          </a:prstGeom>
          <a:noFill/>
        </p:spPr>
        <p:txBody>
          <a:bodyPr wrap="square" rtlCol="0">
            <a:spAutoFit/>
          </a:bodyPr>
          <a:lstStyle/>
          <a:p>
            <a:pPr algn="ctr"/>
            <a:r>
              <a:rPr lang="en-US" sz="5000" b="1" dirty="0">
                <a:ln w="12700">
                  <a:solidFill>
                    <a:schemeClr val="accent1"/>
                  </a:solidFill>
                  <a:prstDash val="solid"/>
                </a:ln>
                <a:solidFill>
                  <a:schemeClr val="accent2">
                    <a:lumMod val="60000"/>
                    <a:lumOff val="40000"/>
                  </a:schemeClr>
                </a:solidFill>
                <a:effectLst>
                  <a:outerShdw dist="38100" dir="2640000" algn="bl" rotWithShape="0">
                    <a:schemeClr val="accent1"/>
                  </a:outerShdw>
                </a:effectLst>
                <a:latin typeface="Trebuchet MS" panose="020B0603020202020204" pitchFamily="34" charset="0"/>
              </a:rPr>
              <a:t>Forensic Project</a:t>
            </a:r>
          </a:p>
        </p:txBody>
      </p:sp>
    </p:spTree>
    <p:extLst>
      <p:ext uri="{BB962C8B-B14F-4D97-AF65-F5344CB8AC3E}">
        <p14:creationId xmlns:p14="http://schemas.microsoft.com/office/powerpoint/2010/main" val="2484747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1ACF31-898A-4C16-A3B8-BC4C918F46A6}"/>
              </a:ext>
            </a:extLst>
          </p:cNvPr>
          <p:cNvGrpSpPr/>
          <p:nvPr/>
        </p:nvGrpSpPr>
        <p:grpSpPr>
          <a:xfrm>
            <a:off x="-9848" y="-18449"/>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818952" y="-29210"/>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3631564" y="-38598"/>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5504564" y="-28046"/>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7264951" y="-18449"/>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4708981"/>
            </a:xfrm>
            <a:prstGeom prst="rect">
              <a:avLst/>
            </a:prstGeom>
            <a:grpFill/>
          </p:spPr>
          <p:txBody>
            <a:bodyPr wrap="square" rtlCol="0">
              <a:spAutoFit/>
            </a:bodyPr>
            <a:lstStyle/>
            <a:p>
              <a:pPr algn="ctr"/>
              <a:r>
                <a:rPr lang="en-US" sz="15000" dirty="0">
                  <a:latin typeface="Trebuchet MS" panose="020B0603020202020204" pitchFamily="34" charset="0"/>
                </a:rPr>
                <a:t>E	</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9136809" y="-7882"/>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749088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51CF41-1CC0-4439-9E5E-B9365AF61BEC}"/>
              </a:ext>
            </a:extLst>
          </p:cNvPr>
          <p:cNvSpPr/>
          <p:nvPr/>
        </p:nvSpPr>
        <p:spPr>
          <a:xfrm>
            <a:off x="-9848" y="-18449"/>
            <a:ext cx="12201848" cy="6868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61ACF31-898A-4C16-A3B8-BC4C918F46A6}"/>
              </a:ext>
            </a:extLst>
          </p:cNvPr>
          <p:cNvGrpSpPr/>
          <p:nvPr/>
        </p:nvGrpSpPr>
        <p:grpSpPr>
          <a:xfrm>
            <a:off x="-9848" y="-18449"/>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2312780" y="9388"/>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952641"/>
            </a:xfrm>
            <a:prstGeom prst="rect">
              <a:avLst/>
            </a:prstGeom>
            <a:grpFill/>
          </p:spPr>
          <p:txBody>
            <a:bodyPr wrap="square" rtlCol="0">
              <a:spAutoFit/>
            </a:bodyPr>
            <a:lstStyle/>
            <a:p>
              <a:pPr algn="ctr"/>
              <a:r>
                <a:rPr lang="en-US" sz="2800"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14125392" y="0"/>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2" y="2602523"/>
              <a:ext cx="2842848" cy="954107"/>
            </a:xfrm>
            <a:prstGeom prst="rect">
              <a:avLst/>
            </a:prstGeom>
            <a:noFill/>
          </p:spPr>
          <p:txBody>
            <a:bodyPr wrap="square" rtlCol="0">
              <a:spAutoFit/>
            </a:bodyPr>
            <a:lstStyle/>
            <a:p>
              <a:pPr algn="ctr"/>
              <a:r>
                <a:rPr lang="en-US" sz="2800"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15998392" y="10552"/>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523220"/>
            </a:xfrm>
            <a:prstGeom prst="rect">
              <a:avLst/>
            </a:prstGeom>
            <a:noFill/>
          </p:spPr>
          <p:txBody>
            <a:bodyPr wrap="square" rtlCol="0">
              <a:spAutoFit/>
            </a:bodyPr>
            <a:lstStyle/>
            <a:p>
              <a:pPr algn="ctr"/>
              <a:r>
                <a:rPr lang="en-US" sz="2800"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17758779" y="20149"/>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2433269"/>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954107"/>
            </a:xfrm>
            <a:prstGeom prst="rect">
              <a:avLst/>
            </a:prstGeom>
            <a:grpFill/>
          </p:spPr>
          <p:txBody>
            <a:bodyPr wrap="square" rtlCol="0">
              <a:spAutoFit/>
            </a:bodyPr>
            <a:lstStyle/>
            <a:p>
              <a:pPr algn="ctr"/>
              <a:r>
                <a:rPr lang="en-US" sz="2800"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19630637" y="30716"/>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954107"/>
            </a:xfrm>
            <a:prstGeom prst="rect">
              <a:avLst/>
            </a:prstGeom>
            <a:grpFill/>
          </p:spPr>
          <p:txBody>
            <a:bodyPr wrap="square" rtlCol="0">
              <a:spAutoFit/>
            </a:bodyPr>
            <a:lstStyle/>
            <a:p>
              <a:pPr algn="ctr"/>
              <a:r>
                <a:rPr lang="en-US" sz="2800"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22A855D2-8FF6-4ADD-8D56-036D7399A848}"/>
              </a:ext>
            </a:extLst>
          </p:cNvPr>
          <p:cNvSpPr txBox="1"/>
          <p:nvPr/>
        </p:nvSpPr>
        <p:spPr>
          <a:xfrm>
            <a:off x="2598057" y="609600"/>
            <a:ext cx="9013372" cy="1200329"/>
          </a:xfrm>
          <a:prstGeom prst="rect">
            <a:avLst/>
          </a:prstGeom>
          <a:noFill/>
        </p:spPr>
        <p:txBody>
          <a:bodyPr wrap="square" rtlCol="0">
            <a:spAutoFit/>
          </a:bodyPr>
          <a:lstStyle/>
          <a:p>
            <a:r>
              <a:rPr lang="en-US" dirty="0">
                <a:latin typeface="Trebuchet MS" panose="020B0603020202020204" pitchFamily="34" charset="0"/>
              </a:rPr>
              <a:t>The Project aims to flagged suspicious transactions from the given data using rule approached using Python, alternatively using Power BI to do the same.</a:t>
            </a:r>
            <a:br>
              <a:rPr lang="en-US" dirty="0">
                <a:latin typeface="Trebuchet MS" panose="020B0603020202020204" pitchFamily="34" charset="0"/>
              </a:rPr>
            </a:br>
            <a:r>
              <a:rPr lang="en-US" dirty="0">
                <a:latin typeface="Trebuchet MS" panose="020B0603020202020204" pitchFamily="34" charset="0"/>
              </a:rPr>
              <a:t>Moving further, previously labeled/annotated data is passed to ML models to automate the process.</a:t>
            </a:r>
          </a:p>
        </p:txBody>
      </p:sp>
      <p:sp>
        <p:nvSpPr>
          <p:cNvPr id="58" name="TextBox 57">
            <a:extLst>
              <a:ext uri="{FF2B5EF4-FFF2-40B4-BE49-F238E27FC236}">
                <a16:creationId xmlns:a16="http://schemas.microsoft.com/office/drawing/2014/main" id="{C6716139-353B-489E-8F8B-F3E93AF10ECE}"/>
              </a:ext>
            </a:extLst>
          </p:cNvPr>
          <p:cNvSpPr txBox="1"/>
          <p:nvPr/>
        </p:nvSpPr>
        <p:spPr>
          <a:xfrm>
            <a:off x="2598055" y="2133080"/>
            <a:ext cx="8820974" cy="400110"/>
          </a:xfrm>
          <a:prstGeom prst="rect">
            <a:avLst/>
          </a:prstGeom>
          <a:solidFill>
            <a:schemeClr val="accent2"/>
          </a:solidFill>
        </p:spPr>
        <p:txBody>
          <a:bodyPr wrap="square" rtlCol="0">
            <a:spAutoFit/>
          </a:bodyPr>
          <a:lstStyle/>
          <a:p>
            <a:pPr algn="ctr"/>
            <a:r>
              <a:rPr lang="en-US" sz="2000" dirty="0">
                <a:latin typeface="Trebuchet MS" panose="020B0603020202020204" pitchFamily="34" charset="0"/>
              </a:rPr>
              <a:t>Data Dictionary</a:t>
            </a:r>
          </a:p>
        </p:txBody>
      </p:sp>
      <p:graphicFrame>
        <p:nvGraphicFramePr>
          <p:cNvPr id="19" name="Table 18">
            <a:extLst>
              <a:ext uri="{FF2B5EF4-FFF2-40B4-BE49-F238E27FC236}">
                <a16:creationId xmlns:a16="http://schemas.microsoft.com/office/drawing/2014/main" id="{C9A6F696-F65A-4978-B2CA-E75A9E98C25F}"/>
              </a:ext>
            </a:extLst>
          </p:cNvPr>
          <p:cNvGraphicFramePr>
            <a:graphicFrameLocks noGrp="1"/>
          </p:cNvGraphicFramePr>
          <p:nvPr>
            <p:extLst>
              <p:ext uri="{D42A27DB-BD31-4B8C-83A1-F6EECF244321}">
                <p14:modId xmlns:p14="http://schemas.microsoft.com/office/powerpoint/2010/main" val="1204682447"/>
              </p:ext>
            </p:extLst>
          </p:nvPr>
        </p:nvGraphicFramePr>
        <p:xfrm>
          <a:off x="2619772" y="2606527"/>
          <a:ext cx="8799257" cy="2895600"/>
        </p:xfrm>
        <a:graphic>
          <a:graphicData uri="http://schemas.openxmlformats.org/drawingml/2006/table">
            <a:tbl>
              <a:tblPr>
                <a:tableStyleId>{5C22544A-7EE6-4342-B048-85BDC9FD1C3A}</a:tableStyleId>
              </a:tblPr>
              <a:tblGrid>
                <a:gridCol w="3080941">
                  <a:extLst>
                    <a:ext uri="{9D8B030D-6E8A-4147-A177-3AD203B41FA5}">
                      <a16:colId xmlns:a16="http://schemas.microsoft.com/office/drawing/2014/main" val="3696897325"/>
                    </a:ext>
                  </a:extLst>
                </a:gridCol>
                <a:gridCol w="5718316">
                  <a:extLst>
                    <a:ext uri="{9D8B030D-6E8A-4147-A177-3AD203B41FA5}">
                      <a16:colId xmlns:a16="http://schemas.microsoft.com/office/drawing/2014/main" val="3644488544"/>
                    </a:ext>
                  </a:extLst>
                </a:gridCol>
              </a:tblGrid>
              <a:tr h="228600">
                <a:tc>
                  <a:txBody>
                    <a:bodyPr/>
                    <a:lstStyle/>
                    <a:p>
                      <a:pPr algn="ctr" fontAlgn="b"/>
                      <a:r>
                        <a:rPr lang="en-US" sz="1200" u="none" strike="noStrike" dirty="0">
                          <a:effectLst/>
                        </a:rPr>
                        <a:t>Column Name</a:t>
                      </a:r>
                      <a:endParaRPr lang="en-US" sz="1200" b="1"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200" u="none" strike="noStrike" dirty="0">
                          <a:effectLst/>
                        </a:rPr>
                        <a:t>Description</a:t>
                      </a:r>
                      <a:endParaRPr lang="en-US" sz="1200" b="1"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412425190"/>
                  </a:ext>
                </a:extLst>
              </a:tr>
              <a:tr h="190500">
                <a:tc>
                  <a:txBody>
                    <a:bodyPr/>
                    <a:lstStyle/>
                    <a:p>
                      <a:pPr algn="ctr" fontAlgn="b"/>
                      <a:r>
                        <a:rPr lang="en-US" sz="1000" u="none" strike="noStrike" dirty="0">
                          <a:effectLst/>
                        </a:rPr>
                        <a:t>index</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Unique row id</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374311201"/>
                  </a:ext>
                </a:extLst>
              </a:tr>
              <a:tr h="190500">
                <a:tc>
                  <a:txBody>
                    <a:bodyPr/>
                    <a:lstStyle/>
                    <a:p>
                      <a:pPr algn="ctr" fontAlgn="b"/>
                      <a:r>
                        <a:rPr lang="en-US" sz="1000" u="none" strike="noStrike" dirty="0" err="1">
                          <a:effectLst/>
                        </a:rPr>
                        <a:t>transaction_id</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Reference key to transaction id</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762139710"/>
                  </a:ext>
                </a:extLst>
              </a:tr>
              <a:tr h="190500">
                <a:tc>
                  <a:txBody>
                    <a:bodyPr/>
                    <a:lstStyle/>
                    <a:p>
                      <a:pPr algn="ctr" fontAlgn="b"/>
                      <a:r>
                        <a:rPr lang="en-US" sz="1000" u="none" strike="noStrike" dirty="0" err="1">
                          <a:effectLst/>
                        </a:rPr>
                        <a:t>transaction_date</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Date transaction occurred (YYYY-MM-DD HH:MM:SS)</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3342583991"/>
                  </a:ext>
                </a:extLst>
              </a:tr>
              <a:tr h="190500">
                <a:tc>
                  <a:txBody>
                    <a:bodyPr/>
                    <a:lstStyle/>
                    <a:p>
                      <a:pPr algn="ctr" fontAlgn="b"/>
                      <a:r>
                        <a:rPr lang="en-US" sz="1000" u="none" strike="noStrike" dirty="0" err="1">
                          <a:effectLst/>
                        </a:rPr>
                        <a:t>employee_id</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Reference to employee id making transactions' entries</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1802117321"/>
                  </a:ext>
                </a:extLst>
              </a:tr>
              <a:tr h="190500">
                <a:tc>
                  <a:txBody>
                    <a:bodyPr/>
                    <a:lstStyle/>
                    <a:p>
                      <a:pPr algn="ctr" fontAlgn="b"/>
                      <a:r>
                        <a:rPr lang="en-US" sz="1000" u="none" strike="noStrike" dirty="0" err="1">
                          <a:effectLst/>
                        </a:rPr>
                        <a:t>vendor_name</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Name of the vendor</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1598955747"/>
                  </a:ext>
                </a:extLst>
              </a:tr>
              <a:tr h="190500">
                <a:tc>
                  <a:txBody>
                    <a:bodyPr/>
                    <a:lstStyle/>
                    <a:p>
                      <a:pPr algn="ctr" fontAlgn="b"/>
                      <a:r>
                        <a:rPr lang="en-US" sz="1000" u="none" strike="noStrike" dirty="0" err="1">
                          <a:effectLst/>
                        </a:rPr>
                        <a:t>invoice_number</a:t>
                      </a:r>
                      <a:endParaRPr lang="en-US" sz="1000" b="0" i="0" u="none" strike="noStrike" dirty="0">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Reference number to invoice owed to vendor</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3048038028"/>
                  </a:ext>
                </a:extLst>
              </a:tr>
              <a:tr h="190500">
                <a:tc>
                  <a:txBody>
                    <a:bodyPr/>
                    <a:lstStyle/>
                    <a:p>
                      <a:pPr algn="ctr" fontAlgn="b"/>
                      <a:r>
                        <a:rPr lang="en-US" sz="1000" u="none" strike="noStrike">
                          <a:effectLst/>
                        </a:rPr>
                        <a:t>payment_methods</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Channel payment is made via (Cash, Bank Transfer, Credit Card &amp; Mobile Payment)</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3912940988"/>
                  </a:ext>
                </a:extLst>
              </a:tr>
              <a:tr h="190500">
                <a:tc>
                  <a:txBody>
                    <a:bodyPr/>
                    <a:lstStyle/>
                    <a:p>
                      <a:pPr algn="ctr" fontAlgn="b"/>
                      <a:r>
                        <a:rPr lang="en-US" sz="1000" u="none" strike="noStrike">
                          <a:effectLst/>
                        </a:rPr>
                        <a:t>amount</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Amount incurred for the service, paid to vendor</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3289579780"/>
                  </a:ext>
                </a:extLst>
              </a:tr>
              <a:tr h="190500">
                <a:tc>
                  <a:txBody>
                    <a:bodyPr/>
                    <a:lstStyle/>
                    <a:p>
                      <a:pPr algn="ctr" fontAlgn="b"/>
                      <a:r>
                        <a:rPr lang="en-US" sz="1000" u="none" strike="noStrike">
                          <a:effectLst/>
                        </a:rPr>
                        <a:t>department</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The name of </a:t>
                      </a:r>
                      <a:r>
                        <a:rPr lang="en-US" sz="1000" u="none" strike="noStrike" dirty="0" err="1">
                          <a:effectLst/>
                        </a:rPr>
                        <a:t>deparment</a:t>
                      </a:r>
                      <a:r>
                        <a:rPr lang="en-US" sz="1000" u="none" strike="noStrike" dirty="0">
                          <a:effectLst/>
                        </a:rPr>
                        <a:t> </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1090861517"/>
                  </a:ext>
                </a:extLst>
              </a:tr>
              <a:tr h="190500">
                <a:tc>
                  <a:txBody>
                    <a:bodyPr/>
                    <a:lstStyle/>
                    <a:p>
                      <a:pPr algn="ctr" fontAlgn="b"/>
                      <a:r>
                        <a:rPr lang="en-US" sz="1000" u="none" strike="noStrike">
                          <a:effectLst/>
                        </a:rPr>
                        <a:t>approver</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The name of approver</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1110131374"/>
                  </a:ext>
                </a:extLst>
              </a:tr>
              <a:tr h="190500">
                <a:tc>
                  <a:txBody>
                    <a:bodyPr/>
                    <a:lstStyle/>
                    <a:p>
                      <a:pPr algn="ctr" fontAlgn="b"/>
                      <a:r>
                        <a:rPr lang="en-US" sz="1000" u="none" strike="noStrike">
                          <a:effectLst/>
                        </a:rPr>
                        <a:t>location</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Location of the vendors</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7384704"/>
                  </a:ext>
                </a:extLst>
              </a:tr>
              <a:tr h="190500">
                <a:tc>
                  <a:txBody>
                    <a:bodyPr/>
                    <a:lstStyle/>
                    <a:p>
                      <a:pPr algn="ctr" fontAlgn="b"/>
                      <a:r>
                        <a:rPr lang="en-US" sz="1000" u="none" strike="noStrike">
                          <a:effectLst/>
                        </a:rPr>
                        <a:t>description</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Detail description of the transactions</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1140735139"/>
                  </a:ext>
                </a:extLst>
              </a:tr>
              <a:tr h="190500">
                <a:tc>
                  <a:txBody>
                    <a:bodyPr/>
                    <a:lstStyle/>
                    <a:p>
                      <a:pPr algn="ctr" fontAlgn="b"/>
                      <a:r>
                        <a:rPr lang="en-US" sz="1000" u="none" strike="noStrike">
                          <a:effectLst/>
                        </a:rPr>
                        <a:t>fraud</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Flagged if transaction is fraud or genuine (0 : genuine , 1 : Fraud)</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102475496"/>
                  </a:ext>
                </a:extLst>
              </a:tr>
              <a:tr h="190500">
                <a:tc>
                  <a:txBody>
                    <a:bodyPr/>
                    <a:lstStyle/>
                    <a:p>
                      <a:pPr algn="ctr" fontAlgn="b"/>
                      <a:r>
                        <a:rPr lang="en-US" sz="1000" u="none" strike="noStrike">
                          <a:effectLst/>
                        </a:rPr>
                        <a:t>fraud_type</a:t>
                      </a:r>
                      <a:endParaRPr lang="en-US" sz="1000" b="0" i="0" u="none" strike="noStrike">
                        <a:solidFill>
                          <a:srgbClr val="000000"/>
                        </a:solidFill>
                        <a:effectLst/>
                        <a:latin typeface="Trebuchet MS" panose="020B0603020202020204" pitchFamily="34" charset="0"/>
                      </a:endParaRPr>
                    </a:p>
                  </a:txBody>
                  <a:tcPr marL="9525" marR="9525" marT="9525" marB="0" anchor="ctr"/>
                </a:tc>
                <a:tc>
                  <a:txBody>
                    <a:bodyPr/>
                    <a:lstStyle/>
                    <a:p>
                      <a:pPr algn="l" fontAlgn="b"/>
                      <a:r>
                        <a:rPr lang="en-US" sz="1000" u="none" strike="noStrike" dirty="0">
                          <a:effectLst/>
                        </a:rPr>
                        <a:t>Detail description of type of fraud </a:t>
                      </a:r>
                      <a:endParaRPr lang="en-US" sz="1000" b="0" i="0" u="none" strike="noStrike" dirty="0">
                        <a:solidFill>
                          <a:srgbClr val="000000"/>
                        </a:solidFill>
                        <a:effectLst/>
                        <a:latin typeface="Trebuchet MS" panose="020B0603020202020204" pitchFamily="34" charset="0"/>
                      </a:endParaRPr>
                    </a:p>
                  </a:txBody>
                  <a:tcPr marL="9525" marR="9525" marT="9525" marB="0" anchor="ctr"/>
                </a:tc>
                <a:extLst>
                  <a:ext uri="{0D108BD9-81ED-4DB2-BD59-A6C34878D82A}">
                    <a16:rowId xmlns:a16="http://schemas.microsoft.com/office/drawing/2014/main" val="2065418954"/>
                  </a:ext>
                </a:extLst>
              </a:tr>
            </a:tbl>
          </a:graphicData>
        </a:graphic>
      </p:graphicFrame>
    </p:spTree>
    <p:extLst>
      <p:ext uri="{BB962C8B-B14F-4D97-AF65-F5344CB8AC3E}">
        <p14:creationId xmlns:p14="http://schemas.microsoft.com/office/powerpoint/2010/main" val="1089265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E20036-9D37-4268-8BFC-1422FE2DAD89}"/>
              </a:ext>
            </a:extLst>
          </p:cNvPr>
          <p:cNvSpPr/>
          <p:nvPr/>
        </p:nvSpPr>
        <p:spPr>
          <a:xfrm>
            <a:off x="0" y="-18658"/>
            <a:ext cx="12192000" cy="6876658"/>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61ACF31-898A-4C16-A3B8-BC4C918F46A6}"/>
              </a:ext>
            </a:extLst>
          </p:cNvPr>
          <p:cNvGrpSpPr/>
          <p:nvPr/>
        </p:nvGrpSpPr>
        <p:grpSpPr>
          <a:xfrm>
            <a:off x="12278040" y="-9061"/>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818952" y="-29210"/>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15919452" y="-29210"/>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17792452" y="-18658"/>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19552839" y="-9061"/>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2433269"/>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21424697" y="1506"/>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3" name="Picture 12">
            <a:extLst>
              <a:ext uri="{FF2B5EF4-FFF2-40B4-BE49-F238E27FC236}">
                <a16:creationId xmlns:a16="http://schemas.microsoft.com/office/drawing/2014/main" id="{CDB69513-4026-40FA-AF2C-2BDC7F69B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984" y="2625504"/>
            <a:ext cx="10860016" cy="4058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7" name="TextBox 36">
            <a:extLst>
              <a:ext uri="{FF2B5EF4-FFF2-40B4-BE49-F238E27FC236}">
                <a16:creationId xmlns:a16="http://schemas.microsoft.com/office/drawing/2014/main" id="{DDAB7448-4C7C-491C-ABBF-FC21B1CC29D6}"/>
              </a:ext>
            </a:extLst>
          </p:cNvPr>
          <p:cNvSpPr txBox="1"/>
          <p:nvPr/>
        </p:nvSpPr>
        <p:spPr>
          <a:xfrm>
            <a:off x="4181521" y="114332"/>
            <a:ext cx="7476709" cy="2031325"/>
          </a:xfrm>
          <a:prstGeom prst="rect">
            <a:avLst/>
          </a:prstGeom>
          <a:noFill/>
        </p:spPr>
        <p:txBody>
          <a:bodyPr wrap="square" rtlCol="0">
            <a:spAutoFit/>
          </a:bodyPr>
          <a:lstStyle/>
          <a:p>
            <a:r>
              <a:rPr lang="en-US" dirty="0">
                <a:latin typeface="Trebuchet MS" panose="020B0603020202020204" pitchFamily="34" charset="0"/>
              </a:rPr>
              <a:t>Initially project is approach by flagging the transactions using the rule-based approach where as Power BI is template aimed for the business users as alternative to Python.</a:t>
            </a:r>
          </a:p>
          <a:p>
            <a:endParaRPr lang="en-US" dirty="0">
              <a:latin typeface="Trebuchet MS" panose="020B0603020202020204" pitchFamily="34" charset="0"/>
            </a:endParaRPr>
          </a:p>
          <a:p>
            <a:r>
              <a:rPr lang="en-US" dirty="0">
                <a:latin typeface="Trebuchet MS" panose="020B0603020202020204" pitchFamily="34" charset="0"/>
              </a:rPr>
              <a:t>ML is considered as continuously improving approach where its end goal is to automate the process of flagging the transactions with high accuracy.</a:t>
            </a:r>
          </a:p>
        </p:txBody>
      </p:sp>
    </p:spTree>
    <p:extLst>
      <p:ext uri="{BB962C8B-B14F-4D97-AF65-F5344CB8AC3E}">
        <p14:creationId xmlns:p14="http://schemas.microsoft.com/office/powerpoint/2010/main" val="712598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D056F3-0B4F-452E-8C67-CB98F39AC8B9}"/>
              </a:ext>
            </a:extLst>
          </p:cNvPr>
          <p:cNvSpPr/>
          <p:nvPr/>
        </p:nvSpPr>
        <p:spPr>
          <a:xfrm>
            <a:off x="0" y="-38598"/>
            <a:ext cx="12179444" cy="682248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C61ACF31-898A-4C16-A3B8-BC4C918F46A6}"/>
              </a:ext>
            </a:extLst>
          </p:cNvPr>
          <p:cNvGrpSpPr/>
          <p:nvPr/>
        </p:nvGrpSpPr>
        <p:grpSpPr>
          <a:xfrm>
            <a:off x="12423487" y="-38598"/>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4020800" y="-15346"/>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3301433" y="-28031"/>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17706412" y="-14182"/>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19466799" y="-4585"/>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2433269"/>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21338657" y="5982"/>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D5C7B395-2ADC-4698-A7FC-6BC90432A34F}"/>
              </a:ext>
            </a:extLst>
          </p:cNvPr>
          <p:cNvSpPr txBox="1"/>
          <p:nvPr/>
        </p:nvSpPr>
        <p:spPr>
          <a:xfrm>
            <a:off x="140684" y="351477"/>
            <a:ext cx="2916706" cy="400110"/>
          </a:xfrm>
          <a:prstGeom prst="rect">
            <a:avLst/>
          </a:prstGeom>
          <a:solidFill>
            <a:schemeClr val="accent2"/>
          </a:solidFill>
        </p:spPr>
        <p:txBody>
          <a:bodyPr wrap="square" rtlCol="0">
            <a:spAutoFit/>
          </a:bodyPr>
          <a:lstStyle/>
          <a:p>
            <a:pPr algn="ctr"/>
            <a:r>
              <a:rPr lang="en-US" sz="2000" dirty="0">
                <a:latin typeface="Trebuchet MS" panose="020B0603020202020204" pitchFamily="34" charset="0"/>
              </a:rPr>
              <a:t>Data Overview</a:t>
            </a:r>
          </a:p>
        </p:txBody>
      </p:sp>
      <p:sp>
        <p:nvSpPr>
          <p:cNvPr id="37" name="TextBox 36">
            <a:extLst>
              <a:ext uri="{FF2B5EF4-FFF2-40B4-BE49-F238E27FC236}">
                <a16:creationId xmlns:a16="http://schemas.microsoft.com/office/drawing/2014/main" id="{6296F65D-BF3F-4874-BA5C-4F40CE4D0B2B}"/>
              </a:ext>
            </a:extLst>
          </p:cNvPr>
          <p:cNvSpPr txBox="1"/>
          <p:nvPr/>
        </p:nvSpPr>
        <p:spPr>
          <a:xfrm>
            <a:off x="6984367" y="351477"/>
            <a:ext cx="3630959" cy="400110"/>
          </a:xfrm>
          <a:prstGeom prst="rect">
            <a:avLst/>
          </a:prstGeom>
          <a:solidFill>
            <a:schemeClr val="accent2"/>
          </a:solidFill>
        </p:spPr>
        <p:txBody>
          <a:bodyPr wrap="square" rtlCol="0">
            <a:spAutoFit/>
          </a:bodyPr>
          <a:lstStyle/>
          <a:p>
            <a:r>
              <a:rPr lang="en-US" sz="2000" dirty="0">
                <a:latin typeface="Trebuchet MS" panose="020B0603020202020204" pitchFamily="34" charset="0"/>
              </a:rPr>
              <a:t>Fraud Types and Risk Level  </a:t>
            </a:r>
          </a:p>
        </p:txBody>
      </p:sp>
      <p:graphicFrame>
        <p:nvGraphicFramePr>
          <p:cNvPr id="21" name="Table 20">
            <a:extLst>
              <a:ext uri="{FF2B5EF4-FFF2-40B4-BE49-F238E27FC236}">
                <a16:creationId xmlns:a16="http://schemas.microsoft.com/office/drawing/2014/main" id="{34F0F6C5-3C89-4396-B0CB-D27D4845C8D3}"/>
              </a:ext>
            </a:extLst>
          </p:cNvPr>
          <p:cNvGraphicFramePr>
            <a:graphicFrameLocks noGrp="1"/>
          </p:cNvGraphicFramePr>
          <p:nvPr>
            <p:extLst>
              <p:ext uri="{D42A27DB-BD31-4B8C-83A1-F6EECF244321}">
                <p14:modId xmlns:p14="http://schemas.microsoft.com/office/powerpoint/2010/main" val="1885618681"/>
              </p:ext>
            </p:extLst>
          </p:nvPr>
        </p:nvGraphicFramePr>
        <p:xfrm>
          <a:off x="5736171" y="882006"/>
          <a:ext cx="6223454" cy="5747394"/>
        </p:xfrm>
        <a:graphic>
          <a:graphicData uri="http://schemas.openxmlformats.org/drawingml/2006/table">
            <a:tbl>
              <a:tblPr firstRow="1" firstCol="1" bandRow="1">
                <a:tableStyleId>{5C22544A-7EE6-4342-B048-85BDC9FD1C3A}</a:tableStyleId>
              </a:tblPr>
              <a:tblGrid>
                <a:gridCol w="296329">
                  <a:extLst>
                    <a:ext uri="{9D8B030D-6E8A-4147-A177-3AD203B41FA5}">
                      <a16:colId xmlns:a16="http://schemas.microsoft.com/office/drawing/2014/main" val="1801387966"/>
                    </a:ext>
                  </a:extLst>
                </a:gridCol>
                <a:gridCol w="1239838">
                  <a:extLst>
                    <a:ext uri="{9D8B030D-6E8A-4147-A177-3AD203B41FA5}">
                      <a16:colId xmlns:a16="http://schemas.microsoft.com/office/drawing/2014/main" val="3595902842"/>
                    </a:ext>
                  </a:extLst>
                </a:gridCol>
                <a:gridCol w="2243137">
                  <a:extLst>
                    <a:ext uri="{9D8B030D-6E8A-4147-A177-3AD203B41FA5}">
                      <a16:colId xmlns:a16="http://schemas.microsoft.com/office/drawing/2014/main" val="2024643321"/>
                    </a:ext>
                  </a:extLst>
                </a:gridCol>
                <a:gridCol w="1823683">
                  <a:extLst>
                    <a:ext uri="{9D8B030D-6E8A-4147-A177-3AD203B41FA5}">
                      <a16:colId xmlns:a16="http://schemas.microsoft.com/office/drawing/2014/main" val="3320289308"/>
                    </a:ext>
                  </a:extLst>
                </a:gridCol>
                <a:gridCol w="620467">
                  <a:extLst>
                    <a:ext uri="{9D8B030D-6E8A-4147-A177-3AD203B41FA5}">
                      <a16:colId xmlns:a16="http://schemas.microsoft.com/office/drawing/2014/main" val="3025652775"/>
                    </a:ext>
                  </a:extLst>
                </a:gridCol>
              </a:tblGrid>
              <a:tr h="424324">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ID</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Fraud Type</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Pattern</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Potential Implication</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Risk level</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4266193118"/>
                  </a:ext>
                </a:extLst>
              </a:tr>
              <a:tr h="686138">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Duplicate Invoice</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Same invoice number, same amount, same vendor name, close timestamp, same employee id</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Risk of double payment and submission error by employee</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3870208960"/>
                  </a:ext>
                </a:extLst>
              </a:tr>
              <a:tr h="53681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Amount Just Below Threshold</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Employee splits expenses to stay below approval threshold.</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Possible intentional act to bypass the approval policies to hide fraud</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Medium</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820742112"/>
                  </a:ext>
                </a:extLst>
              </a:tr>
              <a:tr h="512682">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3</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Round Suspicious Amount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Amount values that are rounded and divisible by 50 (900,950,1000,1050)</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Possible unrealistic and fabricated figures to hide </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Medium</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2215430454"/>
                  </a:ext>
                </a:extLst>
              </a:tr>
              <a:tr h="72010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4</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Same Vendor, Many Employees</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Single vendor used by multiple employees across unrelated department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Potential collusion, use of ghost vendors or non-compliant procurement procedures</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2359380809"/>
                  </a:ext>
                </a:extLst>
              </a:tr>
              <a:tr h="53681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5</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Suspicious Keywords in Description</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Personal or non-business items in description of transactions</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Potential personal misuse or bribery disguised as company expense</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1792922898"/>
                  </a:ext>
                </a:extLst>
              </a:tr>
              <a:tr h="53681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6</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Late-Night Transactions</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Entering expenses during off-hours </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Possible attempt to bypass the review or manually overriding transactions</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Medium</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1399469697"/>
                  </a:ext>
                </a:extLst>
              </a:tr>
              <a:tr h="72010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7</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Approver not in authorization list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Transaction approved by unauthorized personnel</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Potential bypass internal control policies and authority matrix, risk of unauthorized transactions</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3688764375"/>
                  </a:ext>
                </a:extLst>
              </a:tr>
              <a:tr h="53681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8</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Laid off employee making transaction</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Laid off employee id recording transaction after offboarding date</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Risk of unauthorized access, ghost activity after post exist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174547555"/>
                  </a:ext>
                </a:extLst>
              </a:tr>
              <a:tr h="53681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9</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Vendor with high amount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Vendor that has invoice that has 2.5 time its average amount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Risk of potential error on input data or abnormal procurement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High</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46074" marR="46074" marT="0" marB="0" anchor="ctr"/>
                </a:tc>
                <a:extLst>
                  <a:ext uri="{0D108BD9-81ED-4DB2-BD59-A6C34878D82A}">
                    <a16:rowId xmlns:a16="http://schemas.microsoft.com/office/drawing/2014/main" val="1643678569"/>
                  </a:ext>
                </a:extLst>
              </a:tr>
            </a:tbl>
          </a:graphicData>
        </a:graphic>
      </p:graphicFrame>
      <p:sp>
        <p:nvSpPr>
          <p:cNvPr id="38" name="TextBox 37">
            <a:extLst>
              <a:ext uri="{FF2B5EF4-FFF2-40B4-BE49-F238E27FC236}">
                <a16:creationId xmlns:a16="http://schemas.microsoft.com/office/drawing/2014/main" id="{ABA12C75-8068-411E-AC23-09CCBF624711}"/>
              </a:ext>
            </a:extLst>
          </p:cNvPr>
          <p:cNvSpPr txBox="1"/>
          <p:nvPr/>
        </p:nvSpPr>
        <p:spPr>
          <a:xfrm>
            <a:off x="140684" y="1107922"/>
            <a:ext cx="2940929" cy="1477328"/>
          </a:xfrm>
          <a:prstGeom prst="rect">
            <a:avLst/>
          </a:prstGeom>
          <a:noFill/>
        </p:spPr>
        <p:txBody>
          <a:bodyPr wrap="square" rtlCol="0">
            <a:spAutoFit/>
          </a:bodyPr>
          <a:lstStyle/>
          <a:p>
            <a:r>
              <a:rPr lang="en-US" sz="1500" dirty="0">
                <a:solidFill>
                  <a:schemeClr val="bg1"/>
                </a:solidFill>
                <a:latin typeface="Trebuchet MS" panose="020B0603020202020204" pitchFamily="34" charset="0"/>
              </a:rPr>
              <a:t>Total transactions : 1109</a:t>
            </a:r>
          </a:p>
          <a:p>
            <a:r>
              <a:rPr lang="en-US" sz="1500" dirty="0">
                <a:solidFill>
                  <a:schemeClr val="bg1"/>
                </a:solidFill>
                <a:latin typeface="Trebuchet MS" panose="020B0603020202020204" pitchFamily="34" charset="0"/>
              </a:rPr>
              <a:t>Genuine : 1085</a:t>
            </a:r>
          </a:p>
          <a:p>
            <a:r>
              <a:rPr lang="en-US" sz="1500" dirty="0">
                <a:solidFill>
                  <a:srgbClr val="FF0000"/>
                </a:solidFill>
                <a:latin typeface="Trebuchet MS" panose="020B0603020202020204" pitchFamily="34" charset="0"/>
              </a:rPr>
              <a:t>Fraud : 24</a:t>
            </a:r>
          </a:p>
          <a:p>
            <a:endParaRPr lang="en-US" sz="1500" dirty="0">
              <a:solidFill>
                <a:schemeClr val="bg1"/>
              </a:solidFill>
              <a:latin typeface="Trebuchet MS" panose="020B0603020202020204" pitchFamily="34" charset="0"/>
            </a:endParaRPr>
          </a:p>
          <a:p>
            <a:r>
              <a:rPr lang="en-US" sz="1500" dirty="0">
                <a:solidFill>
                  <a:schemeClr val="bg1"/>
                </a:solidFill>
                <a:latin typeface="Trebuchet MS" panose="020B0603020202020204" pitchFamily="34" charset="0"/>
              </a:rPr>
              <a:t>Fraud represent </a:t>
            </a:r>
            <a:r>
              <a:rPr lang="en-US" sz="1500" b="1" dirty="0">
                <a:solidFill>
                  <a:srgbClr val="FF0000"/>
                </a:solidFill>
                <a:latin typeface="Trebuchet MS" panose="020B0603020202020204" pitchFamily="34" charset="0"/>
              </a:rPr>
              <a:t>2.16%</a:t>
            </a:r>
            <a:r>
              <a:rPr lang="en-US" sz="1500" dirty="0">
                <a:solidFill>
                  <a:schemeClr val="bg1"/>
                </a:solidFill>
                <a:latin typeface="Trebuchet MS" panose="020B0603020202020204" pitchFamily="34" charset="0"/>
              </a:rPr>
              <a:t> of total transactions</a:t>
            </a:r>
          </a:p>
        </p:txBody>
      </p:sp>
      <p:graphicFrame>
        <p:nvGraphicFramePr>
          <p:cNvPr id="39" name="Table 38">
            <a:extLst>
              <a:ext uri="{FF2B5EF4-FFF2-40B4-BE49-F238E27FC236}">
                <a16:creationId xmlns:a16="http://schemas.microsoft.com/office/drawing/2014/main" id="{222BDB84-AB88-42D5-80FA-FE91DEBF2E3A}"/>
              </a:ext>
            </a:extLst>
          </p:cNvPr>
          <p:cNvGraphicFramePr>
            <a:graphicFrameLocks noGrp="1"/>
          </p:cNvGraphicFramePr>
          <p:nvPr>
            <p:extLst>
              <p:ext uri="{D42A27DB-BD31-4B8C-83A1-F6EECF244321}">
                <p14:modId xmlns:p14="http://schemas.microsoft.com/office/powerpoint/2010/main" val="2239469921"/>
              </p:ext>
            </p:extLst>
          </p:nvPr>
        </p:nvGraphicFramePr>
        <p:xfrm>
          <a:off x="26781" y="3224826"/>
          <a:ext cx="3054832" cy="3404571"/>
        </p:xfrm>
        <a:graphic>
          <a:graphicData uri="http://schemas.openxmlformats.org/drawingml/2006/table">
            <a:tbl>
              <a:tblPr firstRow="1" firstCol="1" bandRow="1">
                <a:tableStyleId>{5C22544A-7EE6-4342-B048-85BDC9FD1C3A}</a:tableStyleId>
              </a:tblPr>
              <a:tblGrid>
                <a:gridCol w="413872">
                  <a:extLst>
                    <a:ext uri="{9D8B030D-6E8A-4147-A177-3AD203B41FA5}">
                      <a16:colId xmlns:a16="http://schemas.microsoft.com/office/drawing/2014/main" val="61939387"/>
                    </a:ext>
                  </a:extLst>
                </a:gridCol>
                <a:gridCol w="1803857">
                  <a:extLst>
                    <a:ext uri="{9D8B030D-6E8A-4147-A177-3AD203B41FA5}">
                      <a16:colId xmlns:a16="http://schemas.microsoft.com/office/drawing/2014/main" val="3478250029"/>
                    </a:ext>
                  </a:extLst>
                </a:gridCol>
                <a:gridCol w="837103">
                  <a:extLst>
                    <a:ext uri="{9D8B030D-6E8A-4147-A177-3AD203B41FA5}">
                      <a16:colId xmlns:a16="http://schemas.microsoft.com/office/drawing/2014/main" val="2632559180"/>
                    </a:ext>
                  </a:extLst>
                </a:gridCol>
              </a:tblGrid>
              <a:tr h="396119">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ID</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Fraud Type</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Transaction Count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3618428566"/>
                  </a:ext>
                </a:extLst>
              </a:tr>
              <a:tr h="268208">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Duplicate Invoice</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6</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766498171"/>
                  </a:ext>
                </a:extLst>
              </a:tr>
              <a:tr h="338935">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Amount Just Below Threshold</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426134101"/>
                  </a:ext>
                </a:extLst>
              </a:tr>
              <a:tr h="268208">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3</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Round Suspicious Amount</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4</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877178554"/>
                  </a:ext>
                </a:extLst>
              </a:tr>
              <a:tr h="338935">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4</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Same vendor, Many Employees</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4</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3419645119"/>
                  </a:ext>
                </a:extLst>
              </a:tr>
              <a:tr h="407469">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5</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Suspicious Keywords in Description</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3</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313754558"/>
                  </a:ext>
                </a:extLst>
              </a:tr>
              <a:tr h="268208">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6</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Late-Night Transactions</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312288463"/>
                  </a:ext>
                </a:extLst>
              </a:tr>
              <a:tr h="407469">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7</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Approver not in authorization list</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811133887"/>
                  </a:ext>
                </a:extLst>
              </a:tr>
              <a:tr h="442812">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8</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Laid off employee making transaction</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997613564"/>
                  </a:ext>
                </a:extLst>
              </a:tr>
              <a:tr h="268208">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9</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Vendor with high amount</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811332629"/>
                  </a:ext>
                </a:extLst>
              </a:tr>
            </a:tbl>
          </a:graphicData>
        </a:graphic>
      </p:graphicFrame>
    </p:spTree>
    <p:extLst>
      <p:ext uri="{BB962C8B-B14F-4D97-AF65-F5344CB8AC3E}">
        <p14:creationId xmlns:p14="http://schemas.microsoft.com/office/powerpoint/2010/main" val="19466019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C8D34A-F371-4B42-95E7-8E5D2D407A4A}"/>
              </a:ext>
            </a:extLst>
          </p:cNvPr>
          <p:cNvSpPr/>
          <p:nvPr/>
        </p:nvSpPr>
        <p:spPr>
          <a:xfrm>
            <a:off x="0" y="-28046"/>
            <a:ext cx="12192000" cy="679210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61ACF31-898A-4C16-A3B8-BC4C918F46A6}"/>
              </a:ext>
            </a:extLst>
          </p:cNvPr>
          <p:cNvGrpSpPr/>
          <p:nvPr/>
        </p:nvGrpSpPr>
        <p:grpSpPr>
          <a:xfrm>
            <a:off x="16702233" y="-986858"/>
            <a:ext cx="2618981" cy="7867638"/>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8531033" y="-997619"/>
            <a:ext cx="2618981" cy="7867638"/>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20344213" y="-1007007"/>
            <a:ext cx="2615735" cy="7867638"/>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6096000" y="0"/>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23977600" y="-985323"/>
            <a:ext cx="2615735" cy="7855551"/>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2433269"/>
            </a:xfrm>
            <a:prstGeom prst="rect">
              <a:avLst/>
            </a:prstGeom>
            <a:grpFill/>
          </p:spPr>
          <p:txBody>
            <a:bodyPr wrap="square" rtlCol="0">
              <a:spAutoFit/>
            </a:bodyPr>
            <a:lstStyle/>
            <a:p>
              <a:pPr algn="ctr"/>
              <a:r>
                <a:rPr lang="en-US" sz="15000" dirty="0">
                  <a:latin typeface="Trebuchet MS" panose="020B0603020202020204" pitchFamily="34" charset="0"/>
                </a:rPr>
                <a:t>F</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25849458" y="-974756"/>
            <a:ext cx="2615735" cy="7855551"/>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extBox 36">
            <a:extLst>
              <a:ext uri="{FF2B5EF4-FFF2-40B4-BE49-F238E27FC236}">
                <a16:creationId xmlns:a16="http://schemas.microsoft.com/office/drawing/2014/main" id="{7290E7D5-6351-4709-89AA-D8ECE541EB41}"/>
              </a:ext>
            </a:extLst>
          </p:cNvPr>
          <p:cNvSpPr txBox="1"/>
          <p:nvPr/>
        </p:nvSpPr>
        <p:spPr>
          <a:xfrm>
            <a:off x="175352" y="164910"/>
            <a:ext cx="5924103" cy="2816156"/>
          </a:xfrm>
          <a:prstGeom prst="rect">
            <a:avLst/>
          </a:prstGeom>
          <a:noFill/>
        </p:spPr>
        <p:txBody>
          <a:bodyPr wrap="square" rtlCol="0">
            <a:spAutoFit/>
          </a:bodyPr>
          <a:lstStyle/>
          <a:p>
            <a:r>
              <a:rPr lang="en-US" dirty="0"/>
              <a:t>From our rule-based approach </a:t>
            </a:r>
            <a:r>
              <a:rPr lang="en-US" b="1" dirty="0"/>
              <a:t>out of 1109 transaction 228 transactions were flagged as fraud which represented 20% of total transactions</a:t>
            </a:r>
            <a:r>
              <a:rPr lang="en-US" dirty="0"/>
              <a:t>. Actual injected fraud is 24 transactions which is 2.16% meaning there </a:t>
            </a:r>
            <a:r>
              <a:rPr lang="en-US" b="1" dirty="0"/>
              <a:t>is high false positive rates (Genuine transactions flagged as fraud)</a:t>
            </a:r>
            <a:r>
              <a:rPr lang="en-US" dirty="0"/>
              <a:t> which could lead to dissatisfactions and higher time consumption in performing verification check, however, when the cost of fraud is high and risk is significant this is trade-off, flagging the genuine as fraud as to catch all the frauds.</a:t>
            </a:r>
          </a:p>
          <a:p>
            <a:endParaRPr lang="en-US" sz="1500" dirty="0">
              <a:solidFill>
                <a:schemeClr val="bg1"/>
              </a:solidFill>
              <a:latin typeface="Trebuchet MS" panose="020B0603020202020204" pitchFamily="34" charset="0"/>
            </a:endParaRPr>
          </a:p>
        </p:txBody>
      </p:sp>
      <p:graphicFrame>
        <p:nvGraphicFramePr>
          <p:cNvPr id="9" name="Table 8">
            <a:extLst>
              <a:ext uri="{FF2B5EF4-FFF2-40B4-BE49-F238E27FC236}">
                <a16:creationId xmlns:a16="http://schemas.microsoft.com/office/drawing/2014/main" id="{566B6F9B-B096-4DB5-A30F-0E034733F7DC}"/>
              </a:ext>
            </a:extLst>
          </p:cNvPr>
          <p:cNvGraphicFramePr>
            <a:graphicFrameLocks noGrp="1"/>
          </p:cNvGraphicFramePr>
          <p:nvPr>
            <p:extLst>
              <p:ext uri="{D42A27DB-BD31-4B8C-83A1-F6EECF244321}">
                <p14:modId xmlns:p14="http://schemas.microsoft.com/office/powerpoint/2010/main" val="2754001019"/>
              </p:ext>
            </p:extLst>
          </p:nvPr>
        </p:nvGraphicFramePr>
        <p:xfrm>
          <a:off x="171896" y="2926812"/>
          <a:ext cx="5489816" cy="3065442"/>
        </p:xfrm>
        <a:graphic>
          <a:graphicData uri="http://schemas.openxmlformats.org/drawingml/2006/table">
            <a:tbl>
              <a:tblPr firstRow="1" firstCol="1" bandRow="1">
                <a:tableStyleId>{5C22544A-7EE6-4342-B048-85BDC9FD1C3A}</a:tableStyleId>
              </a:tblPr>
              <a:tblGrid>
                <a:gridCol w="828227">
                  <a:extLst>
                    <a:ext uri="{9D8B030D-6E8A-4147-A177-3AD203B41FA5}">
                      <a16:colId xmlns:a16="http://schemas.microsoft.com/office/drawing/2014/main" val="2585950504"/>
                    </a:ext>
                  </a:extLst>
                </a:gridCol>
                <a:gridCol w="3833362">
                  <a:extLst>
                    <a:ext uri="{9D8B030D-6E8A-4147-A177-3AD203B41FA5}">
                      <a16:colId xmlns:a16="http://schemas.microsoft.com/office/drawing/2014/main" val="2815106555"/>
                    </a:ext>
                  </a:extLst>
                </a:gridCol>
                <a:gridCol w="828227">
                  <a:extLst>
                    <a:ext uri="{9D8B030D-6E8A-4147-A177-3AD203B41FA5}">
                      <a16:colId xmlns:a16="http://schemas.microsoft.com/office/drawing/2014/main" val="1755339082"/>
                    </a:ext>
                  </a:extLst>
                </a:gridCol>
              </a:tblGrid>
              <a:tr h="493142">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ID</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Fraud Type Target</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Flagged Count</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285713024"/>
                  </a:ext>
                </a:extLst>
              </a:tr>
              <a:tr h="25723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Duplicate Invoice</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9</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72414664"/>
                  </a:ext>
                </a:extLst>
              </a:tr>
              <a:tr h="25723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Amount Just Below Threshold</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4</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888710137"/>
                  </a:ext>
                </a:extLst>
              </a:tr>
              <a:tr h="25723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3</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Round Suspicious Amount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5</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210019726"/>
                  </a:ext>
                </a:extLst>
              </a:tr>
              <a:tr h="25723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4</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Same vendor, Many Employees</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211</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793837363"/>
                  </a:ext>
                </a:extLst>
              </a:tr>
              <a:tr h="257230">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5</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Suspicious Keywords in Description</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3</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633996791"/>
                  </a:ext>
                </a:extLst>
              </a:tr>
              <a:tr h="257230">
                <a:tc>
                  <a:txBody>
                    <a:bodyPr/>
                    <a:lstStyle/>
                    <a:p>
                      <a:pPr marL="0" marR="0" algn="ctr">
                        <a:lnSpc>
                          <a:spcPct val="107000"/>
                        </a:lnSpc>
                        <a:spcBef>
                          <a:spcPts val="0"/>
                        </a:spcBef>
                        <a:spcAft>
                          <a:spcPts val="0"/>
                        </a:spcAft>
                      </a:pPr>
                      <a:r>
                        <a:rPr lang="en-US" sz="1000">
                          <a:effectLst/>
                          <a:latin typeface="Trebuchet MS" panose="020B0603020202020204" pitchFamily="34" charset="0"/>
                        </a:rPr>
                        <a:t>6</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Late-Night Transactions</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2</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427279417"/>
                  </a:ext>
                </a:extLst>
              </a:tr>
              <a:tr h="257230">
                <a:tc>
                  <a:txBody>
                    <a:bodyPr/>
                    <a:lstStyle/>
                    <a:p>
                      <a:pPr marL="0" marR="0" algn="ctr">
                        <a:lnSpc>
                          <a:spcPct val="107000"/>
                        </a:lnSpc>
                        <a:spcBef>
                          <a:spcPts val="0"/>
                        </a:spcBef>
                        <a:spcAft>
                          <a:spcPts val="0"/>
                        </a:spcAft>
                      </a:pPr>
                      <a:r>
                        <a:rPr lang="en-US" sz="1000">
                          <a:effectLst/>
                          <a:latin typeface="Trebuchet MS" panose="020B0603020202020204" pitchFamily="34" charset="0"/>
                        </a:rPr>
                        <a:t>7</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Approver not in authorization list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1</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633633870"/>
                  </a:ext>
                </a:extLst>
              </a:tr>
              <a:tr h="257230">
                <a:tc>
                  <a:txBody>
                    <a:bodyPr/>
                    <a:lstStyle/>
                    <a:p>
                      <a:pPr marL="0" marR="0" algn="ctr">
                        <a:lnSpc>
                          <a:spcPct val="107000"/>
                        </a:lnSpc>
                        <a:spcBef>
                          <a:spcPts val="0"/>
                        </a:spcBef>
                        <a:spcAft>
                          <a:spcPts val="0"/>
                        </a:spcAft>
                      </a:pPr>
                      <a:r>
                        <a:rPr lang="en-US" sz="1000">
                          <a:effectLst/>
                          <a:latin typeface="Trebuchet MS" panose="020B0603020202020204" pitchFamily="34" charset="0"/>
                        </a:rPr>
                        <a:t>8</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Laid off employee making transaction</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a:effectLst/>
                          <a:latin typeface="Trebuchet MS" panose="020B0603020202020204" pitchFamily="34" charset="0"/>
                        </a:rPr>
                        <a:t>1</a:t>
                      </a:r>
                      <a:endParaRPr lang="en-US" sz="11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729693154"/>
                  </a:ext>
                </a:extLst>
              </a:tr>
              <a:tr h="257230">
                <a:tc>
                  <a:txBody>
                    <a:bodyPr/>
                    <a:lstStyle/>
                    <a:p>
                      <a:pPr marL="0" marR="0" algn="ctr">
                        <a:lnSpc>
                          <a:spcPct val="107000"/>
                        </a:lnSpc>
                        <a:spcBef>
                          <a:spcPts val="0"/>
                        </a:spcBef>
                        <a:spcAft>
                          <a:spcPts val="0"/>
                        </a:spcAft>
                      </a:pPr>
                      <a:r>
                        <a:rPr lang="en-US" sz="1000">
                          <a:effectLst/>
                          <a:latin typeface="Trebuchet MS" panose="020B0603020202020204" pitchFamily="34" charset="0"/>
                        </a:rPr>
                        <a:t>9</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Vendor with high amount</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dirty="0">
                          <a:effectLst/>
                          <a:latin typeface="Trebuchet MS" panose="020B0603020202020204" pitchFamily="34" charset="0"/>
                        </a:rPr>
                        <a:t>2</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3999803978"/>
                  </a:ext>
                </a:extLst>
              </a:tr>
              <a:tr h="257230">
                <a:tc>
                  <a:txBody>
                    <a:bodyPr/>
                    <a:lstStyle/>
                    <a:p>
                      <a:pPr marL="0" marR="0" algn="ctr">
                        <a:lnSpc>
                          <a:spcPct val="107000"/>
                        </a:lnSpc>
                        <a:spcBef>
                          <a:spcPts val="0"/>
                        </a:spcBef>
                        <a:spcAft>
                          <a:spcPts val="0"/>
                        </a:spcAft>
                      </a:pPr>
                      <a:r>
                        <a:rPr lang="en-US" sz="1000">
                          <a:effectLst/>
                          <a:latin typeface="Trebuchet MS" panose="020B0603020202020204" pitchFamily="34" charset="0"/>
                        </a:rPr>
                        <a:t> </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Total</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300" dirty="0">
                          <a:effectLst/>
                          <a:latin typeface="Trebuchet MS" panose="020B0603020202020204" pitchFamily="34" charset="0"/>
                        </a:rPr>
                        <a:t>238</a:t>
                      </a:r>
                      <a:endParaRPr lang="en-US" sz="11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1444370847"/>
                  </a:ext>
                </a:extLst>
              </a:tr>
            </a:tbl>
          </a:graphicData>
        </a:graphic>
      </p:graphicFrame>
      <p:sp>
        <p:nvSpPr>
          <p:cNvPr id="38" name="TextBox 37">
            <a:extLst>
              <a:ext uri="{FF2B5EF4-FFF2-40B4-BE49-F238E27FC236}">
                <a16:creationId xmlns:a16="http://schemas.microsoft.com/office/drawing/2014/main" id="{9E5B0802-5903-47BB-A96B-27C7654C7EA7}"/>
              </a:ext>
            </a:extLst>
          </p:cNvPr>
          <p:cNvSpPr txBox="1"/>
          <p:nvPr/>
        </p:nvSpPr>
        <p:spPr>
          <a:xfrm>
            <a:off x="8407512" y="816984"/>
            <a:ext cx="3630959" cy="707886"/>
          </a:xfrm>
          <a:prstGeom prst="rect">
            <a:avLst/>
          </a:prstGeom>
          <a:solidFill>
            <a:schemeClr val="accent2"/>
          </a:solidFill>
        </p:spPr>
        <p:txBody>
          <a:bodyPr wrap="square" rtlCol="0" anchor="t">
            <a:spAutoFit/>
          </a:bodyPr>
          <a:lstStyle/>
          <a:p>
            <a:r>
              <a:rPr lang="en-US" sz="2000" dirty="0">
                <a:solidFill>
                  <a:schemeClr val="bg1"/>
                </a:solidFill>
                <a:latin typeface="Trebuchet MS" panose="020B0603020202020204" pitchFamily="34" charset="0"/>
              </a:rPr>
              <a:t>Insights From Rule-based Approach</a:t>
            </a:r>
          </a:p>
        </p:txBody>
      </p:sp>
      <p:sp>
        <p:nvSpPr>
          <p:cNvPr id="39" name="TextBox 38">
            <a:extLst>
              <a:ext uri="{FF2B5EF4-FFF2-40B4-BE49-F238E27FC236}">
                <a16:creationId xmlns:a16="http://schemas.microsoft.com/office/drawing/2014/main" id="{D3C75A06-DADA-4D82-A8DC-438E5AE00DED}"/>
              </a:ext>
            </a:extLst>
          </p:cNvPr>
          <p:cNvSpPr txBox="1"/>
          <p:nvPr/>
        </p:nvSpPr>
        <p:spPr>
          <a:xfrm>
            <a:off x="157692" y="6216575"/>
            <a:ext cx="5924103" cy="400110"/>
          </a:xfrm>
          <a:prstGeom prst="rect">
            <a:avLst/>
          </a:prstGeom>
          <a:noFill/>
        </p:spPr>
        <p:txBody>
          <a:bodyPr wrap="square" rtlCol="0">
            <a:spAutoFit/>
          </a:bodyPr>
          <a:lstStyle/>
          <a:p>
            <a:r>
              <a:rPr lang="en-US" sz="1000" dirty="0">
                <a:solidFill>
                  <a:schemeClr val="bg1"/>
                </a:solidFill>
                <a:latin typeface="Trebuchet MS" panose="020B0603020202020204" pitchFamily="34" charset="0"/>
              </a:rPr>
              <a:t>Note: Total is 238 in flagged count due to having same transactions meeting multiple fraud criteria, thus there 238 is of not distinct count where as 228 is.</a:t>
            </a:r>
          </a:p>
        </p:txBody>
      </p:sp>
      <p:graphicFrame>
        <p:nvGraphicFramePr>
          <p:cNvPr id="19" name="Table 18">
            <a:extLst>
              <a:ext uri="{FF2B5EF4-FFF2-40B4-BE49-F238E27FC236}">
                <a16:creationId xmlns:a16="http://schemas.microsoft.com/office/drawing/2014/main" id="{0FA5268F-1300-429F-BF2E-A2B4275E9ED5}"/>
              </a:ext>
            </a:extLst>
          </p:cNvPr>
          <p:cNvGraphicFramePr>
            <a:graphicFrameLocks noGrp="1"/>
          </p:cNvGraphicFramePr>
          <p:nvPr>
            <p:extLst>
              <p:ext uri="{D42A27DB-BD31-4B8C-83A1-F6EECF244321}">
                <p14:modId xmlns:p14="http://schemas.microsoft.com/office/powerpoint/2010/main" val="2680332629"/>
              </p:ext>
            </p:extLst>
          </p:nvPr>
        </p:nvGraphicFramePr>
        <p:xfrm>
          <a:off x="8407512" y="2926812"/>
          <a:ext cx="3630959" cy="2173459"/>
        </p:xfrm>
        <a:graphic>
          <a:graphicData uri="http://schemas.openxmlformats.org/drawingml/2006/table">
            <a:tbl>
              <a:tblPr firstRow="1" firstCol="1" bandRow="1">
                <a:tableStyleId>{5C22544A-7EE6-4342-B048-85BDC9FD1C3A}</a:tableStyleId>
              </a:tblPr>
              <a:tblGrid>
                <a:gridCol w="531757">
                  <a:extLst>
                    <a:ext uri="{9D8B030D-6E8A-4147-A177-3AD203B41FA5}">
                      <a16:colId xmlns:a16="http://schemas.microsoft.com/office/drawing/2014/main" val="1401102696"/>
                    </a:ext>
                  </a:extLst>
                </a:gridCol>
                <a:gridCol w="1764276">
                  <a:extLst>
                    <a:ext uri="{9D8B030D-6E8A-4147-A177-3AD203B41FA5}">
                      <a16:colId xmlns:a16="http://schemas.microsoft.com/office/drawing/2014/main" val="1328848199"/>
                    </a:ext>
                  </a:extLst>
                </a:gridCol>
                <a:gridCol w="1334926">
                  <a:extLst>
                    <a:ext uri="{9D8B030D-6E8A-4147-A177-3AD203B41FA5}">
                      <a16:colId xmlns:a16="http://schemas.microsoft.com/office/drawing/2014/main" val="1094958923"/>
                    </a:ext>
                  </a:extLst>
                </a:gridCol>
              </a:tblGrid>
              <a:tr h="484045">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ID</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Risk level</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200" dirty="0">
                          <a:effectLst/>
                          <a:latin typeface="Trebuchet MS" panose="020B0603020202020204" pitchFamily="34" charset="0"/>
                        </a:rPr>
                        <a:t>Transaction Count</a:t>
                      </a:r>
                      <a:endParaRPr lang="en-US" sz="12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098617396"/>
                  </a:ext>
                </a:extLst>
              </a:tr>
              <a:tr h="442247">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Medium</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219</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4106250936"/>
                  </a:ext>
                </a:extLst>
              </a:tr>
              <a:tr h="442247">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High</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8</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828204097"/>
                  </a:ext>
                </a:extLst>
              </a:tr>
              <a:tr h="362673">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3</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a:effectLst/>
                          <a:latin typeface="Trebuchet MS" panose="020B0603020202020204" pitchFamily="34" charset="0"/>
                        </a:rPr>
                        <a:t>Critical</a:t>
                      </a:r>
                      <a:endParaRPr lang="en-US" sz="100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1</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3708895816"/>
                  </a:ext>
                </a:extLst>
              </a:tr>
              <a:tr h="442247">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 </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Total</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tc>
                  <a:txBody>
                    <a:bodyPr/>
                    <a:lstStyle/>
                    <a:p>
                      <a:pPr marL="0" marR="0" algn="ctr">
                        <a:lnSpc>
                          <a:spcPct val="107000"/>
                        </a:lnSpc>
                        <a:spcBef>
                          <a:spcPts val="0"/>
                        </a:spcBef>
                        <a:spcAft>
                          <a:spcPts val="0"/>
                        </a:spcAft>
                      </a:pPr>
                      <a:r>
                        <a:rPr lang="en-US" sz="1000" dirty="0">
                          <a:effectLst/>
                          <a:latin typeface="Trebuchet MS" panose="020B0603020202020204" pitchFamily="34" charset="0"/>
                        </a:rPr>
                        <a:t>228</a:t>
                      </a:r>
                      <a:endParaRPr lang="en-US" sz="1000" dirty="0">
                        <a:effectLst/>
                        <a:latin typeface="Trebuchet MS" panose="020B0603020202020204" pitchFamily="34" charset="0"/>
                        <a:ea typeface="Calibri" panose="020F0502020204030204" pitchFamily="34" charset="0"/>
                        <a:cs typeface="Myanmar Text" panose="020B0502040204020203" pitchFamily="34" charset="0"/>
                      </a:endParaRPr>
                    </a:p>
                  </a:txBody>
                  <a:tcPr marL="68580" marR="68580" marT="0" marB="0" anchor="ctr"/>
                </a:tc>
                <a:extLst>
                  <a:ext uri="{0D108BD9-81ED-4DB2-BD59-A6C34878D82A}">
                    <a16:rowId xmlns:a16="http://schemas.microsoft.com/office/drawing/2014/main" val="2746329000"/>
                  </a:ext>
                </a:extLst>
              </a:tr>
            </a:tbl>
          </a:graphicData>
        </a:graphic>
      </p:graphicFrame>
      <p:sp>
        <p:nvSpPr>
          <p:cNvPr id="40" name="TextBox 39">
            <a:extLst>
              <a:ext uri="{FF2B5EF4-FFF2-40B4-BE49-F238E27FC236}">
                <a16:creationId xmlns:a16="http://schemas.microsoft.com/office/drawing/2014/main" id="{51E5F4E6-BB24-4F9F-A92C-BEC8AA1ACD51}"/>
              </a:ext>
            </a:extLst>
          </p:cNvPr>
          <p:cNvSpPr txBox="1"/>
          <p:nvPr/>
        </p:nvSpPr>
        <p:spPr>
          <a:xfrm>
            <a:off x="8407511" y="2473759"/>
            <a:ext cx="3630959" cy="369332"/>
          </a:xfrm>
          <a:prstGeom prst="rect">
            <a:avLst/>
          </a:prstGeom>
          <a:solidFill>
            <a:schemeClr val="accent2"/>
          </a:solidFill>
        </p:spPr>
        <p:txBody>
          <a:bodyPr wrap="square" rtlCol="0">
            <a:spAutoFit/>
          </a:bodyPr>
          <a:lstStyle/>
          <a:p>
            <a:pPr algn="ctr"/>
            <a:r>
              <a:rPr lang="en-US" dirty="0">
                <a:latin typeface="Trebuchet MS" panose="020B0603020202020204" pitchFamily="34" charset="0"/>
              </a:rPr>
              <a:t>Summary of Fraud transactions</a:t>
            </a:r>
          </a:p>
        </p:txBody>
      </p:sp>
    </p:spTree>
    <p:extLst>
      <p:ext uri="{BB962C8B-B14F-4D97-AF65-F5344CB8AC3E}">
        <p14:creationId xmlns:p14="http://schemas.microsoft.com/office/powerpoint/2010/main" val="1114186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338945-450D-4E06-B89C-D45154B59684}"/>
              </a:ext>
            </a:extLst>
          </p:cNvPr>
          <p:cNvSpPr/>
          <p:nvPr/>
        </p:nvSpPr>
        <p:spPr>
          <a:xfrm>
            <a:off x="0" y="24973"/>
            <a:ext cx="12192000" cy="6812863"/>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61ACF31-898A-4C16-A3B8-BC4C918F46A6}"/>
              </a:ext>
            </a:extLst>
          </p:cNvPr>
          <p:cNvGrpSpPr/>
          <p:nvPr/>
        </p:nvGrpSpPr>
        <p:grpSpPr>
          <a:xfrm>
            <a:off x="12563152" y="-10567"/>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4391952" y="-21328"/>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16204564" y="-30716"/>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18077564" y="-20164"/>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7923810" y="-16052"/>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385126" y="95816"/>
              <a:ext cx="2670503" cy="2433269"/>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FBCF9C-9566-48D2-BE32-93DDA0784B2E}"/>
              </a:ext>
            </a:extLst>
          </p:cNvPr>
          <p:cNvGrpSpPr/>
          <p:nvPr/>
        </p:nvGrpSpPr>
        <p:grpSpPr>
          <a:xfrm>
            <a:off x="21709809" y="0"/>
            <a:ext cx="2157984" cy="6858000"/>
            <a:chOff x="9200271" y="10551"/>
            <a:chExt cx="3427828" cy="6858000"/>
          </a:xfrm>
          <a:solidFill>
            <a:srgbClr val="92D050"/>
          </a:solidFill>
        </p:grpSpPr>
        <p:sp>
          <p:nvSpPr>
            <p:cNvPr id="28" name="Rectangle 27">
              <a:extLst>
                <a:ext uri="{FF2B5EF4-FFF2-40B4-BE49-F238E27FC236}">
                  <a16:creationId xmlns:a16="http://schemas.microsoft.com/office/drawing/2014/main" id="{8B03CC20-CB83-4252-A931-7DE1B5E850B9}"/>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303745" y="112541"/>
              <a:ext cx="2783334" cy="2400657"/>
            </a:xfrm>
            <a:prstGeom prst="rect">
              <a:avLst/>
            </a:prstGeom>
            <a:grpFill/>
          </p:spPr>
          <p:txBody>
            <a:bodyPr wrap="square" rtlCol="0">
              <a:spAutoFit/>
            </a:bodyPr>
            <a:lstStyle/>
            <a:p>
              <a:pPr algn="ctr"/>
              <a:r>
                <a:rPr lang="en-US" sz="15000" dirty="0">
                  <a:latin typeface="Trebuchet MS" panose="020B0603020202020204" pitchFamily="34" charset="0"/>
                </a:rPr>
                <a:t>E</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303747" y="2602523"/>
              <a:ext cx="2783334" cy="369332"/>
            </a:xfrm>
            <a:prstGeom prst="rect">
              <a:avLst/>
            </a:prstGeom>
            <a:grp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extBox 36">
            <a:extLst>
              <a:ext uri="{FF2B5EF4-FFF2-40B4-BE49-F238E27FC236}">
                <a16:creationId xmlns:a16="http://schemas.microsoft.com/office/drawing/2014/main" id="{D50321B5-7B85-4F26-8611-847B5A7C943E}"/>
              </a:ext>
            </a:extLst>
          </p:cNvPr>
          <p:cNvSpPr txBox="1"/>
          <p:nvPr/>
        </p:nvSpPr>
        <p:spPr>
          <a:xfrm>
            <a:off x="10199235" y="651348"/>
            <a:ext cx="1932714" cy="1015663"/>
          </a:xfrm>
          <a:prstGeom prst="rect">
            <a:avLst/>
          </a:prstGeom>
          <a:solidFill>
            <a:schemeClr val="accent2"/>
          </a:solidFill>
        </p:spPr>
        <p:txBody>
          <a:bodyPr wrap="square" rtlCol="0">
            <a:spAutoFit/>
          </a:bodyPr>
          <a:lstStyle/>
          <a:p>
            <a:r>
              <a:rPr lang="en-US" sz="2000" dirty="0">
                <a:solidFill>
                  <a:schemeClr val="bg1"/>
                </a:solidFill>
                <a:latin typeface="Trebuchet MS" panose="020B0603020202020204" pitchFamily="34" charset="0"/>
              </a:rPr>
              <a:t>Insights From Rule-based Approach</a:t>
            </a:r>
          </a:p>
        </p:txBody>
      </p:sp>
      <p:sp>
        <p:nvSpPr>
          <p:cNvPr id="38" name="TextBox 37">
            <a:extLst>
              <a:ext uri="{FF2B5EF4-FFF2-40B4-BE49-F238E27FC236}">
                <a16:creationId xmlns:a16="http://schemas.microsoft.com/office/drawing/2014/main" id="{8C8FDFAE-F4BA-4F70-BCE0-A1FE42CF4856}"/>
              </a:ext>
            </a:extLst>
          </p:cNvPr>
          <p:cNvSpPr txBox="1"/>
          <p:nvPr/>
        </p:nvSpPr>
        <p:spPr>
          <a:xfrm>
            <a:off x="205908" y="438150"/>
            <a:ext cx="7559731" cy="369332"/>
          </a:xfrm>
          <a:prstGeom prst="rect">
            <a:avLst/>
          </a:prstGeom>
          <a:solidFill>
            <a:schemeClr val="accent2"/>
          </a:solidFill>
        </p:spPr>
        <p:txBody>
          <a:bodyPr wrap="square" rtlCol="0">
            <a:spAutoFit/>
          </a:bodyPr>
          <a:lstStyle/>
          <a:p>
            <a:pPr algn="ctr"/>
            <a:r>
              <a:rPr lang="en-US" dirty="0">
                <a:latin typeface="Trebuchet MS" panose="020B0603020202020204" pitchFamily="34" charset="0"/>
              </a:rPr>
              <a:t>Metric Considered</a:t>
            </a:r>
          </a:p>
        </p:txBody>
      </p:sp>
      <p:sp>
        <p:nvSpPr>
          <p:cNvPr id="9" name="TextBox 8">
            <a:extLst>
              <a:ext uri="{FF2B5EF4-FFF2-40B4-BE49-F238E27FC236}">
                <a16:creationId xmlns:a16="http://schemas.microsoft.com/office/drawing/2014/main" id="{338848BD-E823-49F4-BB1C-7618A7E79F15}"/>
              </a:ext>
            </a:extLst>
          </p:cNvPr>
          <p:cNvSpPr txBox="1"/>
          <p:nvPr/>
        </p:nvSpPr>
        <p:spPr>
          <a:xfrm>
            <a:off x="153529" y="978982"/>
            <a:ext cx="7612110" cy="646331"/>
          </a:xfrm>
          <a:prstGeom prst="rect">
            <a:avLst/>
          </a:prstGeom>
          <a:noFill/>
        </p:spPr>
        <p:txBody>
          <a:bodyPr wrap="square" rtlCol="0">
            <a:spAutoFit/>
          </a:bodyPr>
          <a:lstStyle/>
          <a:p>
            <a:r>
              <a:rPr lang="en-US" dirty="0">
                <a:latin typeface="Trebuchet MS" panose="020B0603020202020204" pitchFamily="34" charset="0"/>
              </a:rPr>
              <a:t>Recall : Measure effectiveness in  detecting fraud</a:t>
            </a:r>
          </a:p>
          <a:p>
            <a:r>
              <a:rPr lang="en-US" dirty="0">
                <a:latin typeface="Trebuchet MS" panose="020B0603020202020204" pitchFamily="34" charset="0"/>
              </a:rPr>
              <a:t>Precision : Measure the accuracy of the fraud detection</a:t>
            </a:r>
          </a:p>
        </p:txBody>
      </p:sp>
      <p:sp>
        <p:nvSpPr>
          <p:cNvPr id="39" name="TextBox 38">
            <a:extLst>
              <a:ext uri="{FF2B5EF4-FFF2-40B4-BE49-F238E27FC236}">
                <a16:creationId xmlns:a16="http://schemas.microsoft.com/office/drawing/2014/main" id="{48A8329E-2DA7-4BE3-839B-83F171A4A4C2}"/>
              </a:ext>
            </a:extLst>
          </p:cNvPr>
          <p:cNvSpPr txBox="1"/>
          <p:nvPr/>
        </p:nvSpPr>
        <p:spPr>
          <a:xfrm>
            <a:off x="153529" y="2051600"/>
            <a:ext cx="7612110" cy="369332"/>
          </a:xfrm>
          <a:prstGeom prst="rect">
            <a:avLst/>
          </a:prstGeom>
          <a:solidFill>
            <a:schemeClr val="accent2"/>
          </a:solidFill>
        </p:spPr>
        <p:txBody>
          <a:bodyPr wrap="square" rtlCol="0">
            <a:spAutoFit/>
          </a:bodyPr>
          <a:lstStyle/>
          <a:p>
            <a:pPr algn="ctr"/>
            <a:r>
              <a:rPr lang="en-US" dirty="0">
                <a:latin typeface="Trebuchet MS" panose="020B0603020202020204" pitchFamily="34" charset="0"/>
              </a:rPr>
              <a:t>Summary of ML model finding</a:t>
            </a:r>
          </a:p>
        </p:txBody>
      </p:sp>
      <p:sp>
        <p:nvSpPr>
          <p:cNvPr id="40" name="TextBox 39">
            <a:extLst>
              <a:ext uri="{FF2B5EF4-FFF2-40B4-BE49-F238E27FC236}">
                <a16:creationId xmlns:a16="http://schemas.microsoft.com/office/drawing/2014/main" id="{D2E280FF-C04B-41F6-9215-6BEE2C8CDD1E}"/>
              </a:ext>
            </a:extLst>
          </p:cNvPr>
          <p:cNvSpPr txBox="1"/>
          <p:nvPr/>
        </p:nvSpPr>
        <p:spPr>
          <a:xfrm>
            <a:off x="153528" y="2637736"/>
            <a:ext cx="7561789" cy="1754326"/>
          </a:xfrm>
          <a:prstGeom prst="rect">
            <a:avLst/>
          </a:prstGeom>
          <a:noFill/>
        </p:spPr>
        <p:txBody>
          <a:bodyPr wrap="square" rtlCol="0">
            <a:spAutoFit/>
          </a:bodyPr>
          <a:lstStyle/>
          <a:p>
            <a:r>
              <a:rPr lang="en-US" dirty="0">
                <a:latin typeface="Trebuchet MS" panose="020B0603020202020204" pitchFamily="34" charset="0"/>
              </a:rPr>
              <a:t>After testing multiple ML models to automate fraud detection, Decision Tree Classifier performed best. However, due to small dataset size and overlap between fraud and genuine transactions, models often memorized patterns and failed on unseen data. This highlights a key limitation: ML alone cannot fully capture fraud, requiring ongoing human investigation. </a:t>
            </a:r>
          </a:p>
        </p:txBody>
      </p:sp>
      <p:pic>
        <p:nvPicPr>
          <p:cNvPr id="41" name="Picture 40">
            <a:extLst>
              <a:ext uri="{FF2B5EF4-FFF2-40B4-BE49-F238E27FC236}">
                <a16:creationId xmlns:a16="http://schemas.microsoft.com/office/drawing/2014/main" id="{AED91F65-EB51-4989-AD06-A90DDB50AC27}"/>
              </a:ext>
            </a:extLst>
          </p:cNvPr>
          <p:cNvPicPr/>
          <p:nvPr/>
        </p:nvPicPr>
        <p:blipFill>
          <a:blip r:embed="rId2"/>
          <a:stretch>
            <a:fillRect/>
          </a:stretch>
        </p:blipFill>
        <p:spPr>
          <a:xfrm>
            <a:off x="221759" y="4408114"/>
            <a:ext cx="7493557" cy="2398215"/>
          </a:xfrm>
          <a:prstGeom prst="rect">
            <a:avLst/>
          </a:prstGeom>
          <a:ln>
            <a:solidFill>
              <a:schemeClr val="tx1"/>
            </a:solidFill>
          </a:ln>
        </p:spPr>
      </p:pic>
    </p:spTree>
    <p:extLst>
      <p:ext uri="{BB962C8B-B14F-4D97-AF65-F5344CB8AC3E}">
        <p14:creationId xmlns:p14="http://schemas.microsoft.com/office/powerpoint/2010/main" val="16449839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B9E2FB-EEB2-42CA-950C-DA3F2A292014}"/>
              </a:ext>
            </a:extLst>
          </p:cNvPr>
          <p:cNvSpPr/>
          <p:nvPr/>
        </p:nvSpPr>
        <p:spPr>
          <a:xfrm>
            <a:off x="0" y="0"/>
            <a:ext cx="12192000" cy="684090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61ACF31-898A-4C16-A3B8-BC4C918F46A6}"/>
              </a:ext>
            </a:extLst>
          </p:cNvPr>
          <p:cNvGrpSpPr/>
          <p:nvPr/>
        </p:nvGrpSpPr>
        <p:grpSpPr>
          <a:xfrm>
            <a:off x="12837634" y="-465981"/>
            <a:ext cx="2160662" cy="6868552"/>
            <a:chOff x="0" y="0"/>
            <a:chExt cx="3502855" cy="6858000"/>
          </a:xfrm>
        </p:grpSpPr>
        <p:sp>
          <p:nvSpPr>
            <p:cNvPr id="4" name="Rectangle 3">
              <a:extLst>
                <a:ext uri="{FF2B5EF4-FFF2-40B4-BE49-F238E27FC236}">
                  <a16:creationId xmlns:a16="http://schemas.microsoft.com/office/drawing/2014/main" id="{7B1920B9-9D8F-4E5B-8CAB-9BAC0A1CF5A9}"/>
                </a:ext>
              </a:extLst>
            </p:cNvPr>
            <p:cNvSpPr/>
            <p:nvPr/>
          </p:nvSpPr>
          <p:spPr>
            <a:xfrm>
              <a:off x="0" y="0"/>
              <a:ext cx="2964842"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623A43-0128-4F4F-BD51-A9A09C551662}"/>
                </a:ext>
              </a:extLst>
            </p:cNvPr>
            <p:cNvSpPr txBox="1"/>
            <p:nvPr/>
          </p:nvSpPr>
          <p:spPr>
            <a:xfrm>
              <a:off x="0" y="112543"/>
              <a:ext cx="2854226" cy="2396969"/>
            </a:xfrm>
            <a:prstGeom prst="rect">
              <a:avLst/>
            </a:prstGeom>
            <a:noFill/>
          </p:spPr>
          <p:txBody>
            <a:bodyPr wrap="square" rtlCol="0">
              <a:spAutoFit/>
            </a:bodyPr>
            <a:lstStyle/>
            <a:p>
              <a:pPr algn="ctr"/>
              <a:r>
                <a:rPr lang="en-US" sz="15000" dirty="0">
                  <a:latin typeface="Trebuchet MS" panose="020B0603020202020204" pitchFamily="34" charset="0"/>
                </a:rPr>
                <a:t>A</a:t>
              </a:r>
            </a:p>
          </p:txBody>
        </p:sp>
        <p:sp>
          <p:nvSpPr>
            <p:cNvPr id="12" name="TextBox 11">
              <a:extLst>
                <a:ext uri="{FF2B5EF4-FFF2-40B4-BE49-F238E27FC236}">
                  <a16:creationId xmlns:a16="http://schemas.microsoft.com/office/drawing/2014/main" id="{8E1CAD08-9D81-4EFC-BD3F-F4A05DC2980E}"/>
                </a:ext>
              </a:extLst>
            </p:cNvPr>
            <p:cNvSpPr txBox="1"/>
            <p:nvPr/>
          </p:nvSpPr>
          <p:spPr>
            <a:xfrm>
              <a:off x="0" y="2602523"/>
              <a:ext cx="2854226" cy="368765"/>
            </a:xfrm>
            <a:prstGeom prst="rect">
              <a:avLst/>
            </a:prstGeom>
            <a:noFill/>
          </p:spPr>
          <p:txBody>
            <a:bodyPr wrap="square" rtlCol="0">
              <a:spAutoFit/>
            </a:bodyPr>
            <a:lstStyle/>
            <a:p>
              <a:pPr algn="ctr"/>
              <a:r>
                <a:rPr lang="en-US" dirty="0">
                  <a:latin typeface="Trebuchet MS" panose="020B0603020202020204" pitchFamily="34" charset="0"/>
                </a:rPr>
                <a:t>INTRODUCTION</a:t>
              </a:r>
            </a:p>
          </p:txBody>
        </p:sp>
        <p:sp>
          <p:nvSpPr>
            <p:cNvPr id="2" name="Isosceles Triangle 1">
              <a:extLst>
                <a:ext uri="{FF2B5EF4-FFF2-40B4-BE49-F238E27FC236}">
                  <a16:creationId xmlns:a16="http://schemas.microsoft.com/office/drawing/2014/main" id="{38F160B9-2FCB-401C-B01B-3A302F264082}"/>
                </a:ext>
              </a:extLst>
            </p:cNvPr>
            <p:cNvSpPr/>
            <p:nvPr/>
          </p:nvSpPr>
          <p:spPr>
            <a:xfrm rot="5400000">
              <a:off x="2150598" y="926710"/>
              <a:ext cx="2268415" cy="43609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4D0808B-8A4E-4C38-A59A-FE83C19FA3FC}"/>
              </a:ext>
            </a:extLst>
          </p:cNvPr>
          <p:cNvGrpSpPr/>
          <p:nvPr/>
        </p:nvGrpSpPr>
        <p:grpSpPr>
          <a:xfrm>
            <a:off x="14666434" y="-476742"/>
            <a:ext cx="2160662" cy="6868552"/>
            <a:chOff x="0" y="0"/>
            <a:chExt cx="3502855" cy="6858000"/>
          </a:xfrm>
          <a:solidFill>
            <a:schemeClr val="accent3">
              <a:lumMod val="75000"/>
            </a:schemeClr>
          </a:solidFill>
        </p:grpSpPr>
        <p:sp>
          <p:nvSpPr>
            <p:cNvPr id="36" name="Isosceles Triangle 35">
              <a:extLst>
                <a:ext uri="{FF2B5EF4-FFF2-40B4-BE49-F238E27FC236}">
                  <a16:creationId xmlns:a16="http://schemas.microsoft.com/office/drawing/2014/main" id="{5E210250-53D2-41C9-9E6E-5C4C52F32395}"/>
                </a:ext>
              </a:extLst>
            </p:cNvPr>
            <p:cNvSpPr/>
            <p:nvPr/>
          </p:nvSpPr>
          <p:spPr>
            <a:xfrm rot="5400000">
              <a:off x="2150598" y="926710"/>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E2CA2AC0-6B82-4C55-9862-CBD120900424}"/>
                </a:ext>
              </a:extLst>
            </p:cNvPr>
            <p:cNvSpPr/>
            <p:nvPr/>
          </p:nvSpPr>
          <p:spPr>
            <a:xfrm>
              <a:off x="0" y="0"/>
              <a:ext cx="2964842"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42340F9-C945-46F3-8846-55110DF06E55}"/>
                </a:ext>
              </a:extLst>
            </p:cNvPr>
            <p:cNvSpPr txBox="1"/>
            <p:nvPr/>
          </p:nvSpPr>
          <p:spPr>
            <a:xfrm>
              <a:off x="20356" y="112543"/>
              <a:ext cx="2939315" cy="2382710"/>
            </a:xfrm>
            <a:prstGeom prst="rect">
              <a:avLst/>
            </a:prstGeom>
            <a:grpFill/>
          </p:spPr>
          <p:txBody>
            <a:bodyPr wrap="square" rtlCol="0">
              <a:spAutoFit/>
            </a:bodyPr>
            <a:lstStyle/>
            <a:p>
              <a:pPr algn="ctr"/>
              <a:r>
                <a:rPr lang="en-US" sz="15000" dirty="0">
                  <a:latin typeface="Trebuchet MS" panose="020B0603020202020204" pitchFamily="34" charset="0"/>
                </a:rPr>
                <a:t>B</a:t>
              </a:r>
            </a:p>
          </p:txBody>
        </p:sp>
        <p:sp>
          <p:nvSpPr>
            <p:cNvPr id="35" name="TextBox 34">
              <a:extLst>
                <a:ext uri="{FF2B5EF4-FFF2-40B4-BE49-F238E27FC236}">
                  <a16:creationId xmlns:a16="http://schemas.microsoft.com/office/drawing/2014/main" id="{E9AD1A93-DAA3-4701-8BAA-EE8B0F3D4C21}"/>
                </a:ext>
              </a:extLst>
            </p:cNvPr>
            <p:cNvSpPr txBox="1"/>
            <p:nvPr/>
          </p:nvSpPr>
          <p:spPr>
            <a:xfrm>
              <a:off x="20354" y="2602523"/>
              <a:ext cx="2918960" cy="368765"/>
            </a:xfrm>
            <a:prstGeom prst="rect">
              <a:avLst/>
            </a:prstGeom>
            <a:grpFill/>
          </p:spPr>
          <p:txBody>
            <a:bodyPr wrap="square" rtlCol="0">
              <a:spAutoFit/>
            </a:bodyPr>
            <a:lstStyle/>
            <a:p>
              <a:pPr algn="ctr"/>
              <a:r>
                <a:rPr lang="en-US" dirty="0">
                  <a:latin typeface="Trebuchet MS" panose="020B0603020202020204" pitchFamily="34" charset="0"/>
                </a:rPr>
                <a:t>APPROACH</a:t>
              </a:r>
            </a:p>
          </p:txBody>
        </p:sp>
      </p:grpSp>
      <p:grpSp>
        <p:nvGrpSpPr>
          <p:cNvPr id="20" name="Group 19">
            <a:extLst>
              <a:ext uri="{FF2B5EF4-FFF2-40B4-BE49-F238E27FC236}">
                <a16:creationId xmlns:a16="http://schemas.microsoft.com/office/drawing/2014/main" id="{C7BB087A-13B1-4D65-B43A-42EC1FA2C061}"/>
              </a:ext>
            </a:extLst>
          </p:cNvPr>
          <p:cNvGrpSpPr/>
          <p:nvPr/>
        </p:nvGrpSpPr>
        <p:grpSpPr>
          <a:xfrm>
            <a:off x="16479046" y="-486130"/>
            <a:ext cx="2157984" cy="6868552"/>
            <a:chOff x="6133514" y="0"/>
            <a:chExt cx="3502856" cy="6858000"/>
          </a:xfrm>
        </p:grpSpPr>
        <p:sp>
          <p:nvSpPr>
            <p:cNvPr id="17" name="Isosceles Triangle 16">
              <a:extLst>
                <a:ext uri="{FF2B5EF4-FFF2-40B4-BE49-F238E27FC236}">
                  <a16:creationId xmlns:a16="http://schemas.microsoft.com/office/drawing/2014/main" id="{F9E73BB9-FA2A-4762-90C5-DB74C43C11F8}"/>
                </a:ext>
              </a:extLst>
            </p:cNvPr>
            <p:cNvSpPr/>
            <p:nvPr/>
          </p:nvSpPr>
          <p:spPr>
            <a:xfrm rot="5400000">
              <a:off x="8284113" y="939375"/>
              <a:ext cx="2268415" cy="436098"/>
            </a:xfrm>
            <a:prstGeom prst="triangl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A561D87-282B-482C-BF69-502D6DF1D5FA}"/>
                </a:ext>
              </a:extLst>
            </p:cNvPr>
            <p:cNvSpPr/>
            <p:nvPr/>
          </p:nvSpPr>
          <p:spPr>
            <a:xfrm>
              <a:off x="6133514" y="0"/>
              <a:ext cx="3066756"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5B0D2C-EAAE-4018-A632-11FEA5977657}"/>
                </a:ext>
              </a:extLst>
            </p:cNvPr>
            <p:cNvSpPr txBox="1"/>
            <p:nvPr/>
          </p:nvSpPr>
          <p:spPr>
            <a:xfrm>
              <a:off x="6133515" y="112542"/>
              <a:ext cx="3066756" cy="2400657"/>
            </a:xfrm>
            <a:prstGeom prst="rect">
              <a:avLst/>
            </a:prstGeom>
            <a:noFill/>
          </p:spPr>
          <p:txBody>
            <a:bodyPr wrap="square" rtlCol="0">
              <a:spAutoFit/>
            </a:bodyPr>
            <a:lstStyle/>
            <a:p>
              <a:pPr algn="ctr"/>
              <a:r>
                <a:rPr lang="en-US" sz="15000" dirty="0">
                  <a:latin typeface="Trebuchet MS" panose="020B0603020202020204" pitchFamily="34" charset="0"/>
                </a:rPr>
                <a:t>C</a:t>
              </a:r>
            </a:p>
          </p:txBody>
        </p:sp>
        <p:sp>
          <p:nvSpPr>
            <p:cNvPr id="14" name="TextBox 13">
              <a:extLst>
                <a:ext uri="{FF2B5EF4-FFF2-40B4-BE49-F238E27FC236}">
                  <a16:creationId xmlns:a16="http://schemas.microsoft.com/office/drawing/2014/main" id="{E5A39848-15B0-4A9D-A28F-EC95650C11A6}"/>
                </a:ext>
              </a:extLst>
            </p:cNvPr>
            <p:cNvSpPr txBox="1"/>
            <p:nvPr/>
          </p:nvSpPr>
          <p:spPr>
            <a:xfrm>
              <a:off x="6257193" y="2602523"/>
              <a:ext cx="2842848" cy="645338"/>
            </a:xfrm>
            <a:prstGeom prst="rect">
              <a:avLst/>
            </a:prstGeom>
            <a:noFill/>
          </p:spPr>
          <p:txBody>
            <a:bodyPr wrap="square" rtlCol="0">
              <a:spAutoFit/>
            </a:bodyPr>
            <a:lstStyle/>
            <a:p>
              <a:pPr algn="ctr"/>
              <a:r>
                <a:rPr lang="en-US" dirty="0">
                  <a:latin typeface="Trebuchet MS" panose="020B0603020202020204" pitchFamily="34" charset="0"/>
                </a:rPr>
                <a:t>DATA &amp; FRAUD RISK</a:t>
              </a:r>
            </a:p>
          </p:txBody>
        </p:sp>
      </p:grpSp>
      <p:grpSp>
        <p:nvGrpSpPr>
          <p:cNvPr id="16" name="Group 15">
            <a:extLst>
              <a:ext uri="{FF2B5EF4-FFF2-40B4-BE49-F238E27FC236}">
                <a16:creationId xmlns:a16="http://schemas.microsoft.com/office/drawing/2014/main" id="{550C66F1-9149-44DC-8C06-C014C688F440}"/>
              </a:ext>
            </a:extLst>
          </p:cNvPr>
          <p:cNvGrpSpPr/>
          <p:nvPr/>
        </p:nvGrpSpPr>
        <p:grpSpPr>
          <a:xfrm>
            <a:off x="18352046" y="-475578"/>
            <a:ext cx="2157984" cy="6858000"/>
            <a:chOff x="5516612" y="17976"/>
            <a:chExt cx="2611272" cy="6858000"/>
          </a:xfrm>
        </p:grpSpPr>
        <p:sp>
          <p:nvSpPr>
            <p:cNvPr id="5" name="Rectangle 4">
              <a:extLst>
                <a:ext uri="{FF2B5EF4-FFF2-40B4-BE49-F238E27FC236}">
                  <a16:creationId xmlns:a16="http://schemas.microsoft.com/office/drawing/2014/main" id="{9ED31A38-3916-4E85-B336-56DC8C041CAF}"/>
                </a:ext>
              </a:extLst>
            </p:cNvPr>
            <p:cNvSpPr/>
            <p:nvPr/>
          </p:nvSpPr>
          <p:spPr>
            <a:xfrm>
              <a:off x="5516612" y="17976"/>
              <a:ext cx="2157984" cy="68580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796432-7A62-48E3-880D-0BF4DD930633}"/>
                </a:ext>
              </a:extLst>
            </p:cNvPr>
            <p:cNvSpPr txBox="1"/>
            <p:nvPr/>
          </p:nvSpPr>
          <p:spPr>
            <a:xfrm>
              <a:off x="5524975" y="139960"/>
              <a:ext cx="2166809" cy="2400657"/>
            </a:xfrm>
            <a:prstGeom prst="rect">
              <a:avLst/>
            </a:prstGeom>
            <a:noFill/>
          </p:spPr>
          <p:txBody>
            <a:bodyPr wrap="square" rtlCol="0">
              <a:spAutoFit/>
            </a:bodyPr>
            <a:lstStyle/>
            <a:p>
              <a:pPr algn="ctr"/>
              <a:r>
                <a:rPr lang="en-US" sz="15000" dirty="0">
                  <a:latin typeface="Trebuchet MS" panose="020B0603020202020204" pitchFamily="34" charset="0"/>
                </a:rPr>
                <a:t>D</a:t>
              </a:r>
            </a:p>
          </p:txBody>
        </p:sp>
        <p:sp>
          <p:nvSpPr>
            <p:cNvPr id="15" name="TextBox 14">
              <a:extLst>
                <a:ext uri="{FF2B5EF4-FFF2-40B4-BE49-F238E27FC236}">
                  <a16:creationId xmlns:a16="http://schemas.microsoft.com/office/drawing/2014/main" id="{890F3E61-B20A-4526-B227-CE009A1D323D}"/>
                </a:ext>
              </a:extLst>
            </p:cNvPr>
            <p:cNvSpPr txBox="1"/>
            <p:nvPr/>
          </p:nvSpPr>
          <p:spPr>
            <a:xfrm>
              <a:off x="5516612" y="2629710"/>
              <a:ext cx="2157984" cy="369332"/>
            </a:xfrm>
            <a:prstGeom prst="rect">
              <a:avLst/>
            </a:prstGeom>
            <a:noFill/>
          </p:spPr>
          <p:txBody>
            <a:bodyPr wrap="square" rtlCol="0">
              <a:spAutoFit/>
            </a:bodyPr>
            <a:lstStyle/>
            <a:p>
              <a:pPr algn="ctr"/>
              <a:r>
                <a:rPr lang="en-US" dirty="0">
                  <a:latin typeface="Trebuchet MS" panose="020B0603020202020204" pitchFamily="34" charset="0"/>
                </a:rPr>
                <a:t>INSIGHT-I</a:t>
              </a:r>
            </a:p>
          </p:txBody>
        </p:sp>
        <p:sp>
          <p:nvSpPr>
            <p:cNvPr id="18" name="Isosceles Triangle 17">
              <a:extLst>
                <a:ext uri="{FF2B5EF4-FFF2-40B4-BE49-F238E27FC236}">
                  <a16:creationId xmlns:a16="http://schemas.microsoft.com/office/drawing/2014/main" id="{8C39908A-E61E-451F-949A-786C35F5D6B5}"/>
                </a:ext>
              </a:extLst>
            </p:cNvPr>
            <p:cNvSpPr/>
            <p:nvPr/>
          </p:nvSpPr>
          <p:spPr>
            <a:xfrm rot="5400000">
              <a:off x="6775627" y="970854"/>
              <a:ext cx="2268415" cy="436098"/>
            </a:xfrm>
            <a:prstGeom prst="triangl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7CF1F256-ED76-4C27-8D76-49EF5EE2F3CC}"/>
              </a:ext>
            </a:extLst>
          </p:cNvPr>
          <p:cNvGrpSpPr/>
          <p:nvPr/>
        </p:nvGrpSpPr>
        <p:grpSpPr>
          <a:xfrm>
            <a:off x="20112433" y="-465981"/>
            <a:ext cx="2157984" cy="6858000"/>
            <a:chOff x="9200271" y="10551"/>
            <a:chExt cx="3427828" cy="6858000"/>
          </a:xfrm>
          <a:solidFill>
            <a:schemeClr val="accent6">
              <a:lumMod val="40000"/>
              <a:lumOff val="60000"/>
            </a:schemeClr>
          </a:solidFill>
        </p:grpSpPr>
        <p:sp>
          <p:nvSpPr>
            <p:cNvPr id="23" name="Rectangle 22">
              <a:extLst>
                <a:ext uri="{FF2B5EF4-FFF2-40B4-BE49-F238E27FC236}">
                  <a16:creationId xmlns:a16="http://schemas.microsoft.com/office/drawing/2014/main" id="{B17EC49A-D9AD-4C88-82DA-6DBD42FE469F}"/>
                </a:ext>
              </a:extLst>
            </p:cNvPr>
            <p:cNvSpPr/>
            <p:nvPr/>
          </p:nvSpPr>
          <p:spPr>
            <a:xfrm>
              <a:off x="9200271" y="10551"/>
              <a:ext cx="2991729" cy="6858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22F31A0-3F8D-4917-B6E1-EB377DD4AA32}"/>
                </a:ext>
              </a:extLst>
            </p:cNvPr>
            <p:cNvSpPr txBox="1"/>
            <p:nvPr/>
          </p:nvSpPr>
          <p:spPr>
            <a:xfrm>
              <a:off x="9227572" y="95816"/>
              <a:ext cx="2828057" cy="4708981"/>
            </a:xfrm>
            <a:prstGeom prst="rect">
              <a:avLst/>
            </a:prstGeom>
            <a:grpFill/>
          </p:spPr>
          <p:txBody>
            <a:bodyPr wrap="square" rtlCol="0">
              <a:spAutoFit/>
            </a:bodyPr>
            <a:lstStyle/>
            <a:p>
              <a:pPr algn="ctr"/>
              <a:r>
                <a:rPr lang="en-US" sz="15000" dirty="0">
                  <a:latin typeface="Trebuchet MS" panose="020B0603020202020204" pitchFamily="34" charset="0"/>
                </a:rPr>
                <a:t>E	</a:t>
              </a:r>
            </a:p>
          </p:txBody>
        </p:sp>
        <p:sp>
          <p:nvSpPr>
            <p:cNvPr id="25" name="TextBox 24">
              <a:extLst>
                <a:ext uri="{FF2B5EF4-FFF2-40B4-BE49-F238E27FC236}">
                  <a16:creationId xmlns:a16="http://schemas.microsoft.com/office/drawing/2014/main" id="{18071A1C-ADCB-4467-947D-F34CD6A9D294}"/>
                </a:ext>
              </a:extLst>
            </p:cNvPr>
            <p:cNvSpPr txBox="1"/>
            <p:nvPr/>
          </p:nvSpPr>
          <p:spPr>
            <a:xfrm>
              <a:off x="9305192" y="2602523"/>
              <a:ext cx="2800018" cy="369332"/>
            </a:xfrm>
            <a:prstGeom prst="rect">
              <a:avLst/>
            </a:prstGeom>
            <a:grpFill/>
          </p:spPr>
          <p:txBody>
            <a:bodyPr wrap="square" rtlCol="0">
              <a:spAutoFit/>
            </a:bodyPr>
            <a:lstStyle/>
            <a:p>
              <a:pPr algn="ctr"/>
              <a:r>
                <a:rPr lang="en-US" dirty="0">
                  <a:latin typeface="Trebuchet MS" panose="020B0603020202020204" pitchFamily="34" charset="0"/>
                </a:rPr>
                <a:t>INSIGHT- II</a:t>
              </a:r>
            </a:p>
          </p:txBody>
        </p:sp>
        <p:sp>
          <p:nvSpPr>
            <p:cNvPr id="26" name="Isosceles Triangle 25">
              <a:extLst>
                <a:ext uri="{FF2B5EF4-FFF2-40B4-BE49-F238E27FC236}">
                  <a16:creationId xmlns:a16="http://schemas.microsoft.com/office/drawing/2014/main" id="{B9164088-18C3-49FA-80F0-339C54678F04}"/>
                </a:ext>
              </a:extLst>
            </p:cNvPr>
            <p:cNvSpPr/>
            <p:nvPr/>
          </p:nvSpPr>
          <p:spPr>
            <a:xfrm rot="5400000">
              <a:off x="11275842" y="951682"/>
              <a:ext cx="2268415" cy="436098"/>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8B03CC20-CB83-4252-A931-7DE1B5E850B9}"/>
              </a:ext>
            </a:extLst>
          </p:cNvPr>
          <p:cNvSpPr/>
          <p:nvPr/>
        </p:nvSpPr>
        <p:spPr>
          <a:xfrm>
            <a:off x="9136809" y="-7882"/>
            <a:ext cx="1883439" cy="6858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279DC43-0EAC-404A-81AA-70D14161F4AE}"/>
              </a:ext>
            </a:extLst>
          </p:cNvPr>
          <p:cNvSpPr txBox="1"/>
          <p:nvPr/>
        </p:nvSpPr>
        <p:spPr>
          <a:xfrm>
            <a:off x="9201951" y="94108"/>
            <a:ext cx="1752244" cy="2400657"/>
          </a:xfrm>
          <a:prstGeom prst="rect">
            <a:avLst/>
          </a:prstGeom>
          <a:solidFill>
            <a:srgbClr val="92D050"/>
          </a:solidFill>
        </p:spPr>
        <p:txBody>
          <a:bodyPr wrap="square" rtlCol="0">
            <a:spAutoFit/>
          </a:bodyPr>
          <a:lstStyle/>
          <a:p>
            <a:pPr algn="ctr"/>
            <a:r>
              <a:rPr lang="en-US" sz="15000" dirty="0">
                <a:latin typeface="Trebuchet MS" panose="020B0603020202020204" pitchFamily="34" charset="0"/>
              </a:rPr>
              <a:t>F</a:t>
            </a:r>
          </a:p>
        </p:txBody>
      </p:sp>
      <p:sp>
        <p:nvSpPr>
          <p:cNvPr id="30" name="TextBox 29">
            <a:extLst>
              <a:ext uri="{FF2B5EF4-FFF2-40B4-BE49-F238E27FC236}">
                <a16:creationId xmlns:a16="http://schemas.microsoft.com/office/drawing/2014/main" id="{04C1EBC8-8FB2-412E-9C62-0BA4362BAF5F}"/>
              </a:ext>
            </a:extLst>
          </p:cNvPr>
          <p:cNvSpPr txBox="1"/>
          <p:nvPr/>
        </p:nvSpPr>
        <p:spPr>
          <a:xfrm>
            <a:off x="9201952" y="2584090"/>
            <a:ext cx="1752244" cy="369332"/>
          </a:xfrm>
          <a:prstGeom prst="rect">
            <a:avLst/>
          </a:prstGeom>
          <a:solidFill>
            <a:srgbClr val="92D050"/>
          </a:solidFill>
        </p:spPr>
        <p:txBody>
          <a:bodyPr wrap="square" rtlCol="0">
            <a:spAutoFit/>
          </a:bodyPr>
          <a:lstStyle/>
          <a:p>
            <a:pPr algn="ctr"/>
            <a:r>
              <a:rPr lang="en-US" dirty="0">
                <a:latin typeface="Trebuchet MS" panose="020B0603020202020204" pitchFamily="34" charset="0"/>
              </a:rPr>
              <a:t>CONCLUSION</a:t>
            </a:r>
          </a:p>
        </p:txBody>
      </p:sp>
      <p:sp>
        <p:nvSpPr>
          <p:cNvPr id="31" name="Isosceles Triangle 30">
            <a:extLst>
              <a:ext uri="{FF2B5EF4-FFF2-40B4-BE49-F238E27FC236}">
                <a16:creationId xmlns:a16="http://schemas.microsoft.com/office/drawing/2014/main" id="{189F28EB-5CA7-41ED-9E7E-ADE12FED3BEA}"/>
              </a:ext>
            </a:extLst>
          </p:cNvPr>
          <p:cNvSpPr/>
          <p:nvPr/>
        </p:nvSpPr>
        <p:spPr>
          <a:xfrm rot="5400000">
            <a:off x="10023313" y="1014026"/>
            <a:ext cx="2268415" cy="274545"/>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006150DD-C92D-4B72-8581-E9B85C8F1EE1}"/>
              </a:ext>
            </a:extLst>
          </p:cNvPr>
          <p:cNvSpPr txBox="1"/>
          <p:nvPr/>
        </p:nvSpPr>
        <p:spPr>
          <a:xfrm>
            <a:off x="233898" y="94108"/>
            <a:ext cx="8721498" cy="400110"/>
          </a:xfrm>
          <a:prstGeom prst="rect">
            <a:avLst/>
          </a:prstGeom>
          <a:solidFill>
            <a:schemeClr val="accent2"/>
          </a:solidFill>
        </p:spPr>
        <p:txBody>
          <a:bodyPr wrap="square" rtlCol="0">
            <a:spAutoFit/>
          </a:bodyPr>
          <a:lstStyle/>
          <a:p>
            <a:pPr algn="ctr"/>
            <a:r>
              <a:rPr lang="en-US" sz="2000" dirty="0">
                <a:latin typeface="Trebuchet MS" panose="020B0603020202020204" pitchFamily="34" charset="0"/>
              </a:rPr>
              <a:t>Conclusion</a:t>
            </a:r>
          </a:p>
        </p:txBody>
      </p:sp>
      <p:sp>
        <p:nvSpPr>
          <p:cNvPr id="38" name="TextBox 37">
            <a:extLst>
              <a:ext uri="{FF2B5EF4-FFF2-40B4-BE49-F238E27FC236}">
                <a16:creationId xmlns:a16="http://schemas.microsoft.com/office/drawing/2014/main" id="{265995DB-CFDF-4F77-9712-6D7566FFC057}"/>
              </a:ext>
            </a:extLst>
          </p:cNvPr>
          <p:cNvSpPr txBox="1"/>
          <p:nvPr/>
        </p:nvSpPr>
        <p:spPr>
          <a:xfrm>
            <a:off x="207708" y="669778"/>
            <a:ext cx="8773877" cy="3416320"/>
          </a:xfrm>
          <a:prstGeom prst="rect">
            <a:avLst/>
          </a:prstGeom>
          <a:noFill/>
        </p:spPr>
        <p:txBody>
          <a:bodyPr wrap="square" rtlCol="0">
            <a:spAutoFit/>
          </a:bodyPr>
          <a:lstStyle/>
          <a:p>
            <a:r>
              <a:rPr lang="en-US" b="1" dirty="0">
                <a:latin typeface="Trebuchet MS" panose="020B0603020202020204" pitchFamily="34" charset="0"/>
              </a:rPr>
              <a:t>Rule-Based Approach</a:t>
            </a:r>
          </a:p>
          <a:p>
            <a:endParaRPr lang="en-US" dirty="0">
              <a:latin typeface="Trebuchet MS" panose="020B0603020202020204" pitchFamily="34" charset="0"/>
            </a:endParaRPr>
          </a:p>
          <a:p>
            <a:pPr marL="285750" indent="-285750">
              <a:buFont typeface="Arial" panose="020B0604020202020204" pitchFamily="34" charset="0"/>
              <a:buChar char="•"/>
            </a:pPr>
            <a:r>
              <a:rPr lang="en-US" dirty="0">
                <a:latin typeface="Trebuchet MS" panose="020B0603020202020204" pitchFamily="34" charset="0"/>
              </a:rPr>
              <a:t>Captures all fraud but flags many genuine transactions as fraud.</a:t>
            </a:r>
          </a:p>
          <a:p>
            <a:pPr marL="285750" indent="-285750">
              <a:buFont typeface="Arial" panose="020B0604020202020204" pitchFamily="34" charset="0"/>
              <a:buChar char="•"/>
            </a:pPr>
            <a:r>
              <a:rPr lang="en-US" dirty="0">
                <a:latin typeface="Trebuchet MS" panose="020B0603020202020204" pitchFamily="34" charset="0"/>
              </a:rPr>
              <a:t>Synthetic dataset inefficiencies reduce reliability.</a:t>
            </a:r>
          </a:p>
          <a:p>
            <a:pPr marL="285750" indent="-285750">
              <a:buFont typeface="Arial" panose="020B0604020202020204" pitchFamily="34" charset="0"/>
              <a:buChar char="•"/>
            </a:pPr>
            <a:r>
              <a:rPr lang="en-US" dirty="0">
                <a:latin typeface="Trebuchet MS" panose="020B0603020202020204" pitchFamily="34" charset="0"/>
              </a:rPr>
              <a:t>Real-world data expected to give more practical, resource-efficient results.</a:t>
            </a:r>
          </a:p>
          <a:p>
            <a:endParaRPr lang="en-US" b="1" dirty="0">
              <a:latin typeface="Trebuchet MS" panose="020B0603020202020204" pitchFamily="34" charset="0"/>
            </a:endParaRPr>
          </a:p>
          <a:p>
            <a:r>
              <a:rPr lang="en-US" b="1" dirty="0">
                <a:latin typeface="Trebuchet MS" panose="020B0603020202020204" pitchFamily="34" charset="0"/>
              </a:rPr>
              <a:t>Machine Learning Approach</a:t>
            </a:r>
          </a:p>
          <a:p>
            <a:endParaRPr lang="en-US" dirty="0">
              <a:latin typeface="Trebuchet MS" panose="020B0603020202020204" pitchFamily="34" charset="0"/>
            </a:endParaRPr>
          </a:p>
          <a:p>
            <a:pPr marL="285750" indent="-285750">
              <a:buFont typeface="Arial" panose="020B0604020202020204" pitchFamily="34" charset="0"/>
              <a:buChar char="•"/>
            </a:pPr>
            <a:r>
              <a:rPr lang="en-US" dirty="0">
                <a:latin typeface="Trebuchet MS" panose="020B0603020202020204" pitchFamily="34" charset="0"/>
              </a:rPr>
              <a:t>Current best: Decision Tree with </a:t>
            </a:r>
            <a:r>
              <a:rPr lang="en-US" b="1" dirty="0">
                <a:latin typeface="Trebuchet MS" panose="020B0603020202020204" pitchFamily="34" charset="0"/>
              </a:rPr>
              <a:t>50% recall</a:t>
            </a:r>
            <a:r>
              <a:rPr lang="en-US" dirty="0">
                <a:latin typeface="Trebuchet MS" panose="020B0603020202020204" pitchFamily="34" charset="0"/>
              </a:rPr>
              <a:t> and </a:t>
            </a:r>
            <a:r>
              <a:rPr lang="en-US" b="1" dirty="0">
                <a:latin typeface="Trebuchet MS" panose="020B0603020202020204" pitchFamily="34" charset="0"/>
              </a:rPr>
              <a:t>23% precision</a:t>
            </a:r>
            <a:r>
              <a:rPr lang="en-US" dirty="0">
                <a:latin typeface="Trebuchet MS" panose="020B0603020202020204" pitchFamily="34" charset="0"/>
              </a:rPr>
              <a:t>.</a:t>
            </a:r>
          </a:p>
          <a:p>
            <a:pPr marL="285750" indent="-285750">
              <a:buFont typeface="Arial" panose="020B0604020202020204" pitchFamily="34" charset="0"/>
              <a:buChar char="•"/>
            </a:pPr>
            <a:r>
              <a:rPr lang="en-US" dirty="0">
                <a:latin typeface="Trebuchet MS" panose="020B0603020202020204" pitchFamily="34" charset="0"/>
              </a:rPr>
              <a:t>Struggles with frauds similar to genuine transactions.</a:t>
            </a:r>
          </a:p>
          <a:p>
            <a:pPr marL="285750" indent="-285750">
              <a:buFont typeface="Arial" panose="020B0604020202020204" pitchFamily="34" charset="0"/>
              <a:buChar char="•"/>
            </a:pPr>
            <a:r>
              <a:rPr lang="en-US" dirty="0">
                <a:latin typeface="Trebuchet MS" panose="020B0603020202020204" pitchFamily="34" charset="0"/>
              </a:rPr>
              <a:t>Needs larger labeled real-world data and richer features.</a:t>
            </a:r>
          </a:p>
          <a:p>
            <a:pPr marL="285750" indent="-285750">
              <a:buFont typeface="Arial" panose="020B0604020202020204" pitchFamily="34" charset="0"/>
              <a:buChar char="•"/>
            </a:pPr>
            <a:r>
              <a:rPr lang="en-US" dirty="0">
                <a:latin typeface="Trebuchet MS" panose="020B0603020202020204" pitchFamily="34" charset="0"/>
              </a:rPr>
              <a:t>Further experiments with complex models could improve accuracy.</a:t>
            </a:r>
          </a:p>
        </p:txBody>
      </p:sp>
    </p:spTree>
    <p:extLst>
      <p:ext uri="{BB962C8B-B14F-4D97-AF65-F5344CB8AC3E}">
        <p14:creationId xmlns:p14="http://schemas.microsoft.com/office/powerpoint/2010/main" val="41938145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DBC3A1-F83F-418A-8B25-201271FAFBB6}"/>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B3083A-0922-4AC9-84A3-3F9E4F3EA5B0}"/>
              </a:ext>
            </a:extLst>
          </p:cNvPr>
          <p:cNvSpPr txBox="1"/>
          <p:nvPr/>
        </p:nvSpPr>
        <p:spPr>
          <a:xfrm>
            <a:off x="233898" y="219045"/>
            <a:ext cx="11958102" cy="400110"/>
          </a:xfrm>
          <a:prstGeom prst="rect">
            <a:avLst/>
          </a:prstGeom>
          <a:solidFill>
            <a:schemeClr val="accent2"/>
          </a:solidFill>
        </p:spPr>
        <p:txBody>
          <a:bodyPr wrap="square" rtlCol="0">
            <a:spAutoFit/>
          </a:bodyPr>
          <a:lstStyle/>
          <a:p>
            <a:pPr algn="ctr"/>
            <a:r>
              <a:rPr lang="en-US" sz="2000" dirty="0">
                <a:latin typeface="Trebuchet MS" panose="020B0603020202020204" pitchFamily="34" charset="0"/>
              </a:rPr>
              <a:t>Alternative to Python Rule-Based Approach</a:t>
            </a:r>
          </a:p>
        </p:txBody>
      </p:sp>
      <p:pic>
        <p:nvPicPr>
          <p:cNvPr id="5" name="Picture 4">
            <a:extLst>
              <a:ext uri="{FF2B5EF4-FFF2-40B4-BE49-F238E27FC236}">
                <a16:creationId xmlns:a16="http://schemas.microsoft.com/office/drawing/2014/main" id="{7F25B3A6-DFA7-4C85-B3CE-1036AC4849B4}"/>
              </a:ext>
            </a:extLst>
          </p:cNvPr>
          <p:cNvPicPr/>
          <p:nvPr/>
        </p:nvPicPr>
        <p:blipFill>
          <a:blip r:embed="rId2"/>
          <a:stretch>
            <a:fillRect/>
          </a:stretch>
        </p:blipFill>
        <p:spPr>
          <a:xfrm>
            <a:off x="233898" y="1138172"/>
            <a:ext cx="7731651" cy="55007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6F9276E9-C420-406E-876D-F4E0CC523C97}"/>
              </a:ext>
            </a:extLst>
          </p:cNvPr>
          <p:cNvSpPr txBox="1"/>
          <p:nvPr/>
        </p:nvSpPr>
        <p:spPr>
          <a:xfrm>
            <a:off x="8227971" y="1138172"/>
            <a:ext cx="3964029" cy="2308324"/>
          </a:xfrm>
          <a:prstGeom prst="rect">
            <a:avLst/>
          </a:prstGeom>
          <a:noFill/>
        </p:spPr>
        <p:txBody>
          <a:bodyPr wrap="square" rtlCol="0">
            <a:spAutoFit/>
          </a:bodyPr>
          <a:lstStyle/>
          <a:p>
            <a:r>
              <a:rPr lang="en-US" dirty="0">
                <a:solidFill>
                  <a:schemeClr val="bg1"/>
                </a:solidFill>
                <a:latin typeface="Trebuchet MS" panose="020B0603020202020204" pitchFamily="34" charset="0"/>
              </a:rPr>
              <a:t>Using M language in Power BI, created a template for business user that would allow users to copy and paste the transactions that would create a summary of visualization as well as allow user to extract the summary report on the flagged transactions.</a:t>
            </a:r>
          </a:p>
        </p:txBody>
      </p:sp>
    </p:spTree>
    <p:extLst>
      <p:ext uri="{BB962C8B-B14F-4D97-AF65-F5344CB8AC3E}">
        <p14:creationId xmlns:p14="http://schemas.microsoft.com/office/powerpoint/2010/main" val="20311943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1072</Words>
  <Application>Microsoft Office PowerPoint</Application>
  <PresentationFormat>Widescreen</PresentationFormat>
  <Paragraphs>292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Myanmar Text</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26</cp:revision>
  <dcterms:created xsi:type="dcterms:W3CDTF">2025-08-07T09:09:58Z</dcterms:created>
  <dcterms:modified xsi:type="dcterms:W3CDTF">2025-08-18T12:59:51Z</dcterms:modified>
</cp:coreProperties>
</file>